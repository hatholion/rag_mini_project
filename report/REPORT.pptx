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fce2f31e-6d36-98f1-b81b-24290f55d22c}">
          <p14:sldIdLst>
            <p14:sldId id="256"/>
          </p14:sldIdLst>
        </p14:section>
        <p14:section name="요약" id="{f9ff2089-5cbe-efcb-b681-d029ec5de918}">
          <p14:sldIdLst>
            <p14:sldId id="257"/>
            <p14:sldId id="258"/>
          </p14:sldIdLst>
        </p14:section>
        <p14:section name="구현과 선택" id="{f5ea0003-ea38-930a-35b5-94a4cab84dc2}">
          <p14:sldIdLst>
            <p14:sldId id="259"/>
            <p14:sldId id="260"/>
          </p14:sldIdLst>
        </p14:section>
        <p14:section name="검색 실험" id="{bcfa9e12-2067-a1d7-7b8b-8c6d6bea45f6}">
          <p14:sldIdLst>
            <p14:sldId id="261"/>
            <p14:sldId id="262"/>
            <p14:sldId id="263"/>
            <p14:sldId id="264"/>
          </p14:sldIdLst>
        </p14:section>
        <p14:section name="답변 평가" id="{25fd4a50-f9b5-c8a7-033a-5a651c3480ab}">
          <p14:sldIdLst>
            <p14:sldId id="265"/>
            <p14:sldId id="266"/>
            <p14:sldId id="267"/>
          </p14:sldIdLst>
        </p14:section>
        <p14:section name="마무리" id="{a35d01c6-a88e-f07f-c34f-1f79ddfefe6d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3D3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3D3E"/>
                </a:solidFill>
                <a:latin typeface="+mn-lt"/>
              </a:rPr>
              <a:t>검색 지표 (근거 있는 질문 54개, Chunk@1은 13개)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Hit@1</c:v>
                </c:pt>
              </c:strCache>
            </c:strRef>
          </c:tx>
          <c:spPr>
            <a:solidFill>
              <a:srgbClr val="0F6B6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730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R0 Dense</c:v>
                  </c:pt>
                  <c:pt idx="1">
                    <c:v>R1 + Multi Query</c:v>
                  </c:pt>
                  <c:pt idx="2">
                    <c:v>R2 + Reranker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0.69</c:v>
                </c:pt>
                <c:pt idx="1">
                  <c:v>0.61</c:v>
                </c:pt>
                <c:pt idx="2">
                  <c:v>0.87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MRR</c:v>
                </c:pt>
              </c:strCache>
            </c:strRef>
          </c:tx>
          <c:spPr>
            <a:solidFill>
              <a:srgbClr val="E3A02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730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R0 Dense</c:v>
                  </c:pt>
                  <c:pt idx="1">
                    <c:v>R1 + Multi Query</c:v>
                  </c:pt>
                  <c:pt idx="2">
                    <c:v>R2 + Reranker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0.78</c:v>
                </c:pt>
                <c:pt idx="1">
                  <c:v>0.75</c:v>
                </c:pt>
                <c:pt idx="2">
                  <c:v>0.92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Chunk@1</c:v>
                </c:pt>
              </c:strCache>
            </c:strRef>
          </c:tx>
          <c:spPr>
            <a:solidFill>
              <a:srgbClr val="9DB8B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730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R0 Dense</c:v>
                  </c:pt>
                  <c:pt idx="1">
                    <c:v>R1 + Multi Query</c:v>
                  </c:pt>
                  <c:pt idx="2">
                    <c:v>R2 + Reranker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0.77</c:v>
                </c:pt>
                <c:pt idx="1">
                  <c:v>0.69</c:v>
                </c:pt>
                <c:pt idx="2">
                  <c:v>0.92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7302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30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CFDE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8F8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7302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3D3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3D3E"/>
                </a:solidFill>
                <a:latin typeface="+mn-lt"/>
              </a:rPr>
              <a:t>유형별 정답성 (64문항)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정답성</c:v>
                </c:pt>
              </c:strCache>
            </c:strRef>
          </c:tx>
          <c:spPr>
            <a:solidFill>
              <a:srgbClr val="0F6B6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730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정의형</c:v>
                  </c:pt>
                  <c:pt idx="1">
                    <c:v>조문번호</c:v>
                  </c:pt>
                  <c:pt idx="2">
                    <c:v>구어체</c:v>
                  </c:pt>
                  <c:pt idx="3">
                    <c:v>의무·벌칙</c:v>
                  </c:pt>
                  <c:pt idx="4">
                    <c:v>정책·기관</c:v>
                  </c:pt>
                  <c:pt idx="5">
                    <c:v>주제형</c:v>
                  </c:pt>
                  <c:pt idx="6">
                    <c:v>시행일</c:v>
                  </c:pt>
                  <c:pt idx="7">
                    <c:v>법에 없음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0.88</c:v>
                </c:pt>
                <c:pt idx="1">
                  <c:v>1</c:v>
                </c:pt>
                <c:pt idx="2">
                  <c:v>1</c:v>
                </c:pt>
                <c:pt idx="3">
                  <c:v>0.62</c:v>
                </c:pt>
                <c:pt idx="4">
                  <c:v>0.88</c:v>
                </c:pt>
                <c:pt idx="5">
                  <c:v>0.5</c:v>
                </c:pt>
                <c:pt idx="6">
                  <c:v>1</c:v>
                </c:pt>
                <c:pt idx="7">
                  <c:v>0.9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7302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30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l"/>
        <c:majorGridlines>
          <c:spPr>
            <a:ln w="6350" cap="flat">
              <a:solidFill>
                <a:srgbClr val="CFDE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8F8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인공지능기본법을 근거로 답하는 QA API를 만든 과정과 평가 결과를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검색은 R0 기본 검색에서 R2 최종 구성으로 Hit@1이 0.69에서 0.87로 올랐습니다. 답변 정답성은 0.84입니다.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 한 건당 LLM 호출은 변환, 임베딩, 재정렬, 답변으로 네 번입니다.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로더는 모두 같은 Law 트리를 돌려주므로 이후 단계는 어떤 로더를 쓰든 그대로입니다.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R0 기본 검색, R1 Multi Query 추가, R2 Reranker 추가입니다. 모두 같은 골든셋 54문항입니다.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관련성은 전 유형에서 1.00입니다. 심판은 답변을 만든 모델과 같은 계열이라 점수가 후할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chemeClr val="accent2"/>
                </a:solidFill>
              </a:rPr>
              <a:t>RAG MINI PROJECT</a:t>
            </a:r>
            <a:endParaRPr lang="en-US" sz="1400" dirty="0"/>
          </a:p>
        </p:txBody>
      </p:sp>
      <p:sp>
        <p:nvSpPr>
          <p:cNvPr id="3" name="Title"/>
          <p:cNvSpPr txBox="1"/>
          <p:nvPr/>
        </p:nvSpPr>
        <p:spPr>
          <a:xfrm>
            <a:off x="822960" y="2011680"/>
            <a:ext cx="8686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인공지능기본법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QA RAG 최종 보고</a:t>
            </a:r>
            <a:endParaRPr lang="en-US" sz="4800" dirty="0"/>
          </a:p>
        </p:txBody>
      </p:sp>
      <p:sp>
        <p:nvSpPr>
          <p:cNvPr id="4" name="Subtitle"/>
          <p:cNvSpPr txBox="1"/>
          <p:nvPr/>
        </p:nvSpPr>
        <p:spPr>
          <a:xfrm>
            <a:off x="82296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무엇을 만들었고, 어떤 기준으로 골랐고, 결과가 어땠는가</a:t>
            </a:r>
            <a:endParaRPr lang="en-US" sz="2000" dirty="0"/>
          </a:p>
        </p:txBody>
      </p:sp>
      <p:sp>
        <p:nvSpPr>
          <p:cNvPr id="5" name="Date"/>
          <p:cNvSpPr txBox="1"/>
          <p:nvPr/>
        </p:nvSpPr>
        <p:spPr>
          <a:xfrm>
            <a:off x="822960" y="5760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2026-10-08</a:t>
            </a:r>
            <a:endParaRPr lang="en-US" sz="1400" dirty="0"/>
          </a:p>
        </p:txBody>
      </p:sp>
      <p:sp>
        <p:nvSpPr>
          <p:cNvPr id="6" name="Chunk 1"/>
          <p:cNvSpPr/>
          <p:nvPr/>
        </p:nvSpPr>
        <p:spPr>
          <a:xfrm>
            <a:off x="9326880" y="1737360"/>
            <a:ext cx="2194560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Chunk 2"/>
          <p:cNvSpPr/>
          <p:nvPr/>
        </p:nvSpPr>
        <p:spPr>
          <a:xfrm>
            <a:off x="9326880" y="2514600"/>
            <a:ext cx="1737360" cy="566928"/>
          </a:xfrm>
          <a:prstGeom prst="roundRect">
            <a:avLst>
              <a:gd name="adj" fmla="val 1612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Chunk 3"/>
          <p:cNvSpPr/>
          <p:nvPr/>
        </p:nvSpPr>
        <p:spPr>
          <a:xfrm>
            <a:off x="9326880" y="3291840"/>
            <a:ext cx="2194560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Chunk 4"/>
          <p:cNvSpPr/>
          <p:nvPr/>
        </p:nvSpPr>
        <p:spPr>
          <a:xfrm>
            <a:off x="9326880" y="4069080"/>
            <a:ext cx="1737360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Chunk 5"/>
          <p:cNvSpPr/>
          <p:nvPr/>
        </p:nvSpPr>
        <p:spPr>
          <a:xfrm>
            <a:off x="9326880" y="4846320"/>
            <a:ext cx="2194560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핵심 결과: 검색은 크게 좋아졌고, 답변은 유형별로 편차가 있다</a:t>
            </a:r>
            <a:endParaRPr lang="en-US" sz="2800" dirty="0"/>
          </a:p>
        </p:txBody>
      </p:sp>
      <p:sp>
        <p:nvSpPr>
          <p:cNvPr id="3" name="Stat card 1"/>
          <p:cNvSpPr/>
          <p:nvPr/>
        </p:nvSpPr>
        <p:spPr>
          <a:xfrm>
            <a:off x="640080" y="1645920"/>
            <a:ext cx="256032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at value 1"/>
          <p:cNvSpPr txBox="1"/>
          <p:nvPr/>
        </p:nvSpPr>
        <p:spPr>
          <a:xfrm>
            <a:off x="868680" y="1874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0.69 → 0.87</a:t>
            </a:r>
            <a:endParaRPr lang="en-US" sz="2600" dirty="0"/>
          </a:p>
        </p:txBody>
      </p:sp>
      <p:sp>
        <p:nvSpPr>
          <p:cNvPr id="5" name="Stat label 1"/>
          <p:cNvSpPr txBox="1"/>
          <p:nvPr/>
        </p:nvSpPr>
        <p:spPr>
          <a:xfrm>
            <a:off x="868680" y="2743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검색 Hit@1</a:t>
            </a:r>
            <a:endParaRPr lang="en-US" sz="1600" dirty="0"/>
          </a:p>
        </p:txBody>
      </p:sp>
      <p:sp>
        <p:nvSpPr>
          <p:cNvPr id="6" name="Stat note 1"/>
          <p:cNvSpPr txBox="1"/>
          <p:nvPr/>
        </p:nvSpPr>
        <p:spPr>
          <a:xfrm>
            <a:off x="868680" y="31546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정답 조문을 1등으로 가져오는 비율</a:t>
            </a:r>
            <a:endParaRPr lang="en-US" sz="1300" dirty="0"/>
          </a:p>
        </p:txBody>
      </p:sp>
      <p:sp>
        <p:nvSpPr>
          <p:cNvPr id="7" name="Stat card 2"/>
          <p:cNvSpPr/>
          <p:nvPr/>
        </p:nvSpPr>
        <p:spPr>
          <a:xfrm>
            <a:off x="3383280" y="1645920"/>
            <a:ext cx="256032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tat value 2"/>
          <p:cNvSpPr txBox="1"/>
          <p:nvPr/>
        </p:nvSpPr>
        <p:spPr>
          <a:xfrm>
            <a:off x="3611880" y="1874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0.78 → 0.92</a:t>
            </a:r>
            <a:endParaRPr lang="en-US" sz="2600" dirty="0"/>
          </a:p>
        </p:txBody>
      </p:sp>
      <p:sp>
        <p:nvSpPr>
          <p:cNvPr id="9" name="Stat label 2"/>
          <p:cNvSpPr txBox="1"/>
          <p:nvPr/>
        </p:nvSpPr>
        <p:spPr>
          <a:xfrm>
            <a:off x="3611880" y="2743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검색 MRR</a:t>
            </a:r>
            <a:endParaRPr lang="en-US" sz="1600" dirty="0"/>
          </a:p>
        </p:txBody>
      </p:sp>
      <p:sp>
        <p:nvSpPr>
          <p:cNvPr id="10" name="Stat note 2"/>
          <p:cNvSpPr txBox="1"/>
          <p:nvPr/>
        </p:nvSpPr>
        <p:spPr>
          <a:xfrm>
            <a:off x="3611880" y="31546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정답이 평균적으로 나오는 순위(1.0이 만점)</a:t>
            </a:r>
            <a:endParaRPr lang="en-US" sz="1300" dirty="0"/>
          </a:p>
        </p:txBody>
      </p:sp>
      <p:sp>
        <p:nvSpPr>
          <p:cNvPr id="11" name="Stat card 3"/>
          <p:cNvSpPr/>
          <p:nvPr/>
        </p:nvSpPr>
        <p:spPr>
          <a:xfrm>
            <a:off x="6126480" y="1645920"/>
            <a:ext cx="256032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tat value 3"/>
          <p:cNvSpPr txBox="1"/>
          <p:nvPr/>
        </p:nvSpPr>
        <p:spPr>
          <a:xfrm>
            <a:off x="6355080" y="1874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0.84</a:t>
            </a:r>
            <a:endParaRPr lang="en-US" sz="2600" dirty="0"/>
          </a:p>
        </p:txBody>
      </p:sp>
      <p:sp>
        <p:nvSpPr>
          <p:cNvPr id="13" name="Stat label 3"/>
          <p:cNvSpPr txBox="1"/>
          <p:nvPr/>
        </p:nvSpPr>
        <p:spPr>
          <a:xfrm>
            <a:off x="6355080" y="2743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답변 정답성</a:t>
            </a:r>
            <a:endParaRPr lang="en-US" sz="1600" dirty="0"/>
          </a:p>
        </p:txBody>
      </p:sp>
      <p:sp>
        <p:nvSpPr>
          <p:cNvPr id="14" name="Stat note 3"/>
          <p:cNvSpPr txBox="1"/>
          <p:nvPr/>
        </p:nvSpPr>
        <p:spPr>
          <a:xfrm>
            <a:off x="6355080" y="31546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64문항, 정답 근거와 맞는 비율</a:t>
            </a:r>
            <a:endParaRPr lang="en-US" sz="1300" dirty="0"/>
          </a:p>
        </p:txBody>
      </p:sp>
      <p:sp>
        <p:nvSpPr>
          <p:cNvPr id="15" name="Stat card 4"/>
          <p:cNvSpPr/>
          <p:nvPr/>
        </p:nvSpPr>
        <p:spPr>
          <a:xfrm>
            <a:off x="8869680" y="1645920"/>
            <a:ext cx="256032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tat value 4"/>
          <p:cNvSpPr txBox="1"/>
          <p:nvPr/>
        </p:nvSpPr>
        <p:spPr>
          <a:xfrm>
            <a:off x="9098280" y="1874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10 / 10</a:t>
            </a:r>
            <a:endParaRPr lang="en-US" sz="2600" dirty="0"/>
          </a:p>
        </p:txBody>
      </p:sp>
      <p:sp>
        <p:nvSpPr>
          <p:cNvPr id="17" name="Stat label 4"/>
          <p:cNvSpPr txBox="1"/>
          <p:nvPr/>
        </p:nvSpPr>
        <p:spPr>
          <a:xfrm>
            <a:off x="9098280" y="2743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올바른 거절</a:t>
            </a:r>
            <a:endParaRPr lang="en-US" sz="1600" dirty="0"/>
          </a:p>
        </p:txBody>
      </p:sp>
      <p:sp>
        <p:nvSpPr>
          <p:cNvPr id="18" name="Stat note 4"/>
          <p:cNvSpPr txBox="1"/>
          <p:nvPr/>
        </p:nvSpPr>
        <p:spPr>
          <a:xfrm>
            <a:off x="9098280" y="31546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법에 없는 질문에 "확인되지 않는다"고 답함</a:t>
            </a:r>
            <a:endParaRPr lang="en-US" sz="1300" dirty="0"/>
          </a:p>
        </p:txBody>
      </p:sp>
      <p:sp>
        <p:nvSpPr>
          <p:cNvPr id="19" name="Findings"/>
          <p:cNvSpPr txBox="1"/>
          <p:nvPr/>
        </p:nvSpPr>
        <p:spPr>
          <a:xfrm>
            <a:off x="640080" y="4526280"/>
            <a:ext cx="109087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발견 1  </a:t>
            </a:r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좋아진 건 Multi Query가 아니라 Reranker였다</a:t>
            </a:r>
            <a:endParaRPr lang="en-US" sz="18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발견 2  </a:t>
            </a:r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검색이 잘 돼도 과태료·여러 조문 질문은 답변이 약하다</a:t>
            </a:r>
            <a:endParaRPr lang="en-US" sz="18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발견 3  </a:t>
            </a:r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조문 단위 지표만 보면 실패가 가려진다 (청크·Recall 병행)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전체 구조: 미리 저장해 두고, 질문이 오면 찾아서 답한다</a:t>
            </a:r>
            <a:endParaRPr lang="en-US" sz="2800" dirty="0"/>
          </a:p>
        </p:txBody>
      </p:sp>
      <p:sp>
        <p:nvSpPr>
          <p:cNvPr id="3" name="Offline label"/>
          <p:cNvSpPr txBox="1"/>
          <p:nvPr/>
        </p:nvSpPr>
        <p:spPr>
          <a:xfrm>
            <a:off x="64008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미리 해 두는 작업 (Offline)</a:t>
            </a:r>
            <a:endParaRPr lang="en-US" sz="1400" dirty="0"/>
          </a:p>
        </p:txBody>
      </p:sp>
      <p:sp>
        <p:nvSpPr>
          <p:cNvPr id="4" name="Offline step 1"/>
          <p:cNvSpPr/>
          <p:nvPr/>
        </p:nvSpPr>
        <p:spPr>
          <a:xfrm>
            <a:off x="640080" y="1828800"/>
            <a:ext cx="19659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Offline text 1"/>
          <p:cNvSpPr txBox="1"/>
          <p:nvPr/>
        </p:nvSpPr>
        <p:spPr>
          <a:xfrm>
            <a:off x="731520" y="182880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법령 파일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(XML)</a:t>
            </a:r>
            <a:endParaRPr lang="en-US" sz="1400" dirty="0"/>
          </a:p>
        </p:txBody>
      </p:sp>
      <p:sp>
        <p:nvSpPr>
          <p:cNvPr id="6" name="Offline arrow 1"/>
          <p:cNvSpPr/>
          <p:nvPr/>
        </p:nvSpPr>
        <p:spPr>
          <a:xfrm>
            <a:off x="2660904" y="2167128"/>
            <a:ext cx="256032" cy="237744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Offline step 2"/>
          <p:cNvSpPr/>
          <p:nvPr/>
        </p:nvSpPr>
        <p:spPr>
          <a:xfrm>
            <a:off x="2971800" y="1828800"/>
            <a:ext cx="19659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Offline text 2"/>
          <p:cNvSpPr txBox="1"/>
          <p:nvPr/>
        </p:nvSpPr>
        <p:spPr>
          <a:xfrm>
            <a:off x="3063240" y="182880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구조 읽기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장·조·항·호</a:t>
            </a:r>
            <a:endParaRPr lang="en-US" sz="1400" dirty="0"/>
          </a:p>
        </p:txBody>
      </p:sp>
      <p:sp>
        <p:nvSpPr>
          <p:cNvPr id="9" name="Offline arrow 2"/>
          <p:cNvSpPr/>
          <p:nvPr/>
        </p:nvSpPr>
        <p:spPr>
          <a:xfrm>
            <a:off x="4992624" y="2167128"/>
            <a:ext cx="256032" cy="237744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Offline step 3"/>
          <p:cNvSpPr/>
          <p:nvPr/>
        </p:nvSpPr>
        <p:spPr>
          <a:xfrm>
            <a:off x="5303520" y="1828800"/>
            <a:ext cx="19659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Offline text 3"/>
          <p:cNvSpPr txBox="1"/>
          <p:nvPr/>
        </p:nvSpPr>
        <p:spPr>
          <a:xfrm>
            <a:off x="5394960" y="182880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청크 나누기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62개</a:t>
            </a:r>
            <a:endParaRPr lang="en-US" sz="1400" dirty="0"/>
          </a:p>
        </p:txBody>
      </p:sp>
      <p:sp>
        <p:nvSpPr>
          <p:cNvPr id="12" name="Offline arrow 3"/>
          <p:cNvSpPr/>
          <p:nvPr/>
        </p:nvSpPr>
        <p:spPr>
          <a:xfrm>
            <a:off x="7324344" y="2167128"/>
            <a:ext cx="256032" cy="237744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Offline step 4"/>
          <p:cNvSpPr/>
          <p:nvPr/>
        </p:nvSpPr>
        <p:spPr>
          <a:xfrm>
            <a:off x="7635240" y="1828800"/>
            <a:ext cx="19659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Offline text 4"/>
          <p:cNvSpPr txBox="1"/>
          <p:nvPr/>
        </p:nvSpPr>
        <p:spPr>
          <a:xfrm>
            <a:off x="7726680" y="182880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임베딩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벡터 변환</a:t>
            </a:r>
            <a:endParaRPr lang="en-US" sz="1400" dirty="0"/>
          </a:p>
        </p:txBody>
      </p:sp>
      <p:sp>
        <p:nvSpPr>
          <p:cNvPr id="15" name="Offline arrow 4"/>
          <p:cNvSpPr/>
          <p:nvPr/>
        </p:nvSpPr>
        <p:spPr>
          <a:xfrm>
            <a:off x="9656064" y="2167128"/>
            <a:ext cx="256032" cy="237744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Offline step 5"/>
          <p:cNvSpPr/>
          <p:nvPr/>
        </p:nvSpPr>
        <p:spPr>
          <a:xfrm>
            <a:off x="9966960" y="1828800"/>
            <a:ext cx="19659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Offline text 5"/>
          <p:cNvSpPr txBox="1"/>
          <p:nvPr/>
        </p:nvSpPr>
        <p:spPr>
          <a:xfrm>
            <a:off x="10058400" y="182880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Qdrant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저장</a:t>
            </a:r>
            <a:endParaRPr lang="en-US" sz="1400" dirty="0"/>
          </a:p>
        </p:txBody>
      </p:sp>
      <p:sp>
        <p:nvSpPr>
          <p:cNvPr id="18" name="Online label"/>
          <p:cNvSpPr txBox="1"/>
          <p:nvPr/>
        </p:nvSpPr>
        <p:spPr>
          <a:xfrm>
            <a:off x="640080" y="3246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질문이 올 때 (Online)</a:t>
            </a:r>
            <a:endParaRPr lang="en-US" sz="1400" dirty="0"/>
          </a:p>
        </p:txBody>
      </p:sp>
      <p:sp>
        <p:nvSpPr>
          <p:cNvPr id="19" name="Online step 1"/>
          <p:cNvSpPr/>
          <p:nvPr/>
        </p:nvSpPr>
        <p:spPr>
          <a:xfrm>
            <a:off x="640080" y="3611880"/>
            <a:ext cx="1965960" cy="201168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Online title 1"/>
          <p:cNvSpPr txBox="1"/>
          <p:nvPr/>
        </p:nvSpPr>
        <p:spPr>
          <a:xfrm>
            <a:off x="777240" y="3749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① Multi Query</a:t>
            </a:r>
            <a:endParaRPr lang="en-US" sz="1500" dirty="0"/>
          </a:p>
        </p:txBody>
      </p:sp>
      <p:sp>
        <p:nvSpPr>
          <p:cNvPr id="21" name="Online desc 1"/>
          <p:cNvSpPr txBox="1"/>
          <p:nvPr/>
        </p:nvSpPr>
        <p:spPr>
          <a:xfrm>
            <a:off x="777240" y="429768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질문을 법률 용어로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3개 더 바꿔 쓴다</a:t>
            </a:r>
            <a:endParaRPr lang="en-US" sz="1300" dirty="0"/>
          </a:p>
        </p:txBody>
      </p:sp>
      <p:sp>
        <p:nvSpPr>
          <p:cNvPr id="22" name="Online arrow 1"/>
          <p:cNvSpPr/>
          <p:nvPr/>
        </p:nvSpPr>
        <p:spPr>
          <a:xfrm>
            <a:off x="2660904" y="4507992"/>
            <a:ext cx="256032" cy="237744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Online step 2"/>
          <p:cNvSpPr/>
          <p:nvPr/>
        </p:nvSpPr>
        <p:spPr>
          <a:xfrm>
            <a:off x="2971800" y="3611880"/>
            <a:ext cx="1965960" cy="201168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Online title 2"/>
          <p:cNvSpPr txBox="1"/>
          <p:nvPr/>
        </p:nvSpPr>
        <p:spPr>
          <a:xfrm>
            <a:off x="3108960" y="3749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② Dense 검색</a:t>
            </a:r>
            <a:endParaRPr lang="en-US" sz="1500" dirty="0"/>
          </a:p>
        </p:txBody>
      </p:sp>
      <p:sp>
        <p:nvSpPr>
          <p:cNvPr id="25" name="Online desc 2"/>
          <p:cNvSpPr txBox="1"/>
          <p:nvPr/>
        </p:nvSpPr>
        <p:spPr>
          <a:xfrm>
            <a:off x="3108960" y="429768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4개 질문으로 검색 후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RRF로 합쳐 후보 20개</a:t>
            </a:r>
            <a:endParaRPr lang="en-US" sz="1300" dirty="0"/>
          </a:p>
        </p:txBody>
      </p:sp>
      <p:sp>
        <p:nvSpPr>
          <p:cNvPr id="26" name="Online arrow 2"/>
          <p:cNvSpPr/>
          <p:nvPr/>
        </p:nvSpPr>
        <p:spPr>
          <a:xfrm>
            <a:off x="4992624" y="4507992"/>
            <a:ext cx="256032" cy="237744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7" name="Online step 3"/>
          <p:cNvSpPr/>
          <p:nvPr/>
        </p:nvSpPr>
        <p:spPr>
          <a:xfrm>
            <a:off x="5303520" y="3611880"/>
            <a:ext cx="1965960" cy="2011680"/>
          </a:xfrm>
          <a:prstGeom prst="roundRect">
            <a:avLst>
              <a:gd name="adj" fmla="val 558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Online title 3"/>
          <p:cNvSpPr txBox="1"/>
          <p:nvPr/>
        </p:nvSpPr>
        <p:spPr>
          <a:xfrm>
            <a:off x="5440680" y="3749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③ Reranker</a:t>
            </a:r>
            <a:endParaRPr lang="en-US" sz="1500" dirty="0"/>
          </a:p>
        </p:txBody>
      </p:sp>
      <p:sp>
        <p:nvSpPr>
          <p:cNvPr id="29" name="Online desc 3"/>
          <p:cNvSpPr txBox="1"/>
          <p:nvPr/>
        </p:nvSpPr>
        <p:spPr>
          <a:xfrm>
            <a:off x="5440680" y="429768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LLM이 0~10점으로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채점해 다시 줄 세움</a:t>
            </a:r>
            <a:endParaRPr lang="en-US" sz="1300" dirty="0"/>
          </a:p>
        </p:txBody>
      </p:sp>
      <p:sp>
        <p:nvSpPr>
          <p:cNvPr id="30" name="Online arrow 3"/>
          <p:cNvSpPr/>
          <p:nvPr/>
        </p:nvSpPr>
        <p:spPr>
          <a:xfrm>
            <a:off x="7324344" y="4507992"/>
            <a:ext cx="256032" cy="237744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1" name="Online step 4"/>
          <p:cNvSpPr/>
          <p:nvPr/>
        </p:nvSpPr>
        <p:spPr>
          <a:xfrm>
            <a:off x="7635240" y="3611880"/>
            <a:ext cx="1965960" cy="201168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Online title 4"/>
          <p:cNvSpPr txBox="1"/>
          <p:nvPr/>
        </p:nvSpPr>
        <p:spPr>
          <a:xfrm>
            <a:off x="7772400" y="3749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④ 근거 5개</a:t>
            </a:r>
            <a:endParaRPr lang="en-US" sz="1500" dirty="0"/>
          </a:p>
        </p:txBody>
      </p:sp>
      <p:sp>
        <p:nvSpPr>
          <p:cNvPr id="33" name="Online desc 4"/>
          <p:cNvSpPr txBox="1"/>
          <p:nvPr/>
        </p:nvSpPr>
        <p:spPr>
          <a:xfrm>
            <a:off x="7772400" y="429768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상위 5개 청크를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본문으로 전달</a:t>
            </a:r>
            <a:endParaRPr lang="en-US" sz="1300" dirty="0"/>
          </a:p>
        </p:txBody>
      </p:sp>
      <p:sp>
        <p:nvSpPr>
          <p:cNvPr id="34" name="Online arrow 4"/>
          <p:cNvSpPr/>
          <p:nvPr/>
        </p:nvSpPr>
        <p:spPr>
          <a:xfrm>
            <a:off x="9656064" y="4507992"/>
            <a:ext cx="256032" cy="237744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5" name="Online step 5"/>
          <p:cNvSpPr/>
          <p:nvPr/>
        </p:nvSpPr>
        <p:spPr>
          <a:xfrm>
            <a:off x="9966960" y="3611880"/>
            <a:ext cx="1965960" cy="201168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Online title 5"/>
          <p:cNvSpPr txBox="1"/>
          <p:nvPr/>
        </p:nvSpPr>
        <p:spPr>
          <a:xfrm>
            <a:off x="10104120" y="3749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⑤ 답변</a:t>
            </a:r>
            <a:endParaRPr lang="en-US" sz="1500" dirty="0"/>
          </a:p>
        </p:txBody>
      </p:sp>
      <p:sp>
        <p:nvSpPr>
          <p:cNvPr id="37" name="Online desc 5"/>
          <p:cNvSpPr txBox="1"/>
          <p:nvPr/>
        </p:nvSpPr>
        <p:spPr>
          <a:xfrm>
            <a:off x="10104120" y="429768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본문에 있는 내용만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조문 번호와 함께 답함</a:t>
            </a:r>
            <a:endParaRPr lang="en-US" sz="1300" dirty="0"/>
          </a:p>
        </p:txBody>
      </p:sp>
      <p:sp>
        <p:nvSpPr>
          <p:cNvPr id="38" name="Footnote"/>
          <p:cNvSpPr txBox="1"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강조한 ③ Reranker가 순위를 가장 크게 바로잡은 단계였다 (뒤에서 설명)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문서 읽기: XML을 정답지로 두고 다른 형식과 비교했다</a:t>
            </a:r>
            <a:endParaRPr lang="en-US" sz="2800" dirty="0"/>
          </a:p>
        </p:txBody>
      </p:sp>
      <p:sp>
        <p:nvSpPr>
          <p:cNvPr id="3" name="Format card 1"/>
          <p:cNvSpPr/>
          <p:nvPr/>
        </p:nvSpPr>
        <p:spPr>
          <a:xfrm>
            <a:off x="640080" y="1554480"/>
            <a:ext cx="2148840" cy="3291840"/>
          </a:xfrm>
          <a:prstGeom prst="roundRect">
            <a:avLst>
              <a:gd name="adj" fmla="val 510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Format name 1"/>
          <p:cNvSpPr txBox="1"/>
          <p:nvPr/>
        </p:nvSpPr>
        <p:spPr>
          <a:xfrm>
            <a:off x="822960" y="1737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법제처 XML</a:t>
            </a:r>
            <a:endParaRPr lang="en-US" sz="1800" dirty="0"/>
          </a:p>
        </p:txBody>
      </p:sp>
      <p:sp>
        <p:nvSpPr>
          <p:cNvPr id="5" name="Format trait 1"/>
          <p:cNvSpPr txBox="1"/>
          <p:nvPr/>
        </p:nvSpPr>
        <p:spPr>
          <a:xfrm>
            <a:off x="822960" y="23774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구조가 태그로 나뉘어 가장 정확</a:t>
            </a:r>
            <a:endParaRPr lang="en-US" sz="1400" dirty="0"/>
          </a:p>
        </p:txBody>
      </p:sp>
      <p:sp>
        <p:nvSpPr>
          <p:cNvPr id="6" name="Format role 1"/>
          <p:cNvSpPr txBox="1"/>
          <p:nvPr/>
        </p:nvSpPr>
        <p:spPr>
          <a:xfrm>
            <a:off x="822960" y="347472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실제 적재 입력이자 정답지</a:t>
            </a:r>
            <a:endParaRPr lang="en-US" sz="1400" dirty="0"/>
          </a:p>
        </p:txBody>
      </p:sp>
      <p:sp>
        <p:nvSpPr>
          <p:cNvPr id="7" name="Format card 2"/>
          <p:cNvSpPr/>
          <p:nvPr/>
        </p:nvSpPr>
        <p:spPr>
          <a:xfrm>
            <a:off x="2971800" y="1554480"/>
            <a:ext cx="2148840" cy="3291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Format name 2"/>
          <p:cNvSpPr txBox="1"/>
          <p:nvPr/>
        </p:nvSpPr>
        <p:spPr>
          <a:xfrm>
            <a:off x="3154680" y="1737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HWPX</a:t>
            </a:r>
            <a:endParaRPr lang="en-US" sz="1800" dirty="0"/>
          </a:p>
        </p:txBody>
      </p:sp>
      <p:sp>
        <p:nvSpPr>
          <p:cNvPr id="9" name="Format trait 2"/>
          <p:cNvSpPr txBox="1"/>
          <p:nvPr/>
        </p:nvSpPr>
        <p:spPr>
          <a:xfrm>
            <a:off x="3154680" y="23774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번호와 문단이 글자로 들어 있음</a:t>
            </a:r>
            <a:endParaRPr lang="en-US" sz="1400" dirty="0"/>
          </a:p>
        </p:txBody>
      </p:sp>
      <p:sp>
        <p:nvSpPr>
          <p:cNvPr id="10" name="Format role 2"/>
          <p:cNvSpPr txBox="1"/>
          <p:nvPr/>
        </p:nvSpPr>
        <p:spPr>
          <a:xfrm>
            <a:off x="3154680" y="347472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직접 구현. XML과 비교해 검증</a:t>
            </a:r>
            <a:endParaRPr lang="en-US" sz="1400" dirty="0"/>
          </a:p>
        </p:txBody>
      </p:sp>
      <p:sp>
        <p:nvSpPr>
          <p:cNvPr id="11" name="Format card 3"/>
          <p:cNvSpPr/>
          <p:nvPr/>
        </p:nvSpPr>
        <p:spPr>
          <a:xfrm>
            <a:off x="5303520" y="1554480"/>
            <a:ext cx="2148840" cy="3291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Format name 3"/>
          <p:cNvSpPr txBox="1"/>
          <p:nvPr/>
        </p:nvSpPr>
        <p:spPr>
          <a:xfrm>
            <a:off x="5486400" y="1737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PDF + Docling</a:t>
            </a:r>
            <a:endParaRPr lang="en-US" sz="1800" dirty="0"/>
          </a:p>
        </p:txBody>
      </p:sp>
      <p:sp>
        <p:nvSpPr>
          <p:cNvPr id="13" name="Format trait 3"/>
          <p:cNvSpPr txBox="1"/>
          <p:nvPr/>
        </p:nvSpPr>
        <p:spPr>
          <a:xfrm>
            <a:off x="5486400" y="23774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레이아웃에서 구조를 추정해야 함</a:t>
            </a:r>
            <a:endParaRPr lang="en-US" sz="1400" dirty="0"/>
          </a:p>
        </p:txBody>
      </p:sp>
      <p:sp>
        <p:nvSpPr>
          <p:cNvPr id="14" name="Format role 3"/>
          <p:cNvSpPr txBox="1"/>
          <p:nvPr/>
        </p:nvSpPr>
        <p:spPr>
          <a:xfrm>
            <a:off x="5486400" y="347472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팀원 진행 중. 비교는 아직</a:t>
            </a:r>
            <a:endParaRPr lang="en-US" sz="1400" dirty="0"/>
          </a:p>
        </p:txBody>
      </p:sp>
      <p:sp>
        <p:nvSpPr>
          <p:cNvPr id="15" name="Verify title"/>
          <p:cNvSpPr txBox="1"/>
          <p:nvPr/>
        </p:nvSpPr>
        <p:spPr>
          <a:xfrm>
            <a:off x="7772400" y="1554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HWPX 로더 검증 결과 (XML 대비)</a:t>
            </a:r>
            <a:endParaRPr lang="en-US" sz="1600" dirty="0"/>
          </a:p>
        </p:txBody>
      </p:sp>
      <p:sp>
        <p:nvSpPr>
          <p:cNvPr id="16" name="Verify stat"/>
          <p:cNvSpPr txBox="1"/>
          <p:nvPr/>
        </p:nvSpPr>
        <p:spPr>
          <a:xfrm>
            <a:off x="7772400" y="20116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62 / 62</a:t>
            </a:r>
            <a:endParaRPr lang="en-US" sz="6000" dirty="0"/>
          </a:p>
        </p:txBody>
      </p:sp>
      <p:sp>
        <p:nvSpPr>
          <p:cNvPr id="17" name="Verify caption"/>
          <p:cNvSpPr txBox="1"/>
          <p:nvPr/>
        </p:nvSpPr>
        <p:spPr>
          <a:xfrm>
            <a:off x="7772400" y="3063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청크 ID와 내용이 완전 일치</a:t>
            </a:r>
            <a:endParaRPr lang="en-US" sz="1400" dirty="0"/>
          </a:p>
        </p:txBody>
      </p:sp>
      <p:sp>
        <p:nvSpPr>
          <p:cNvPr id="18" name="Verify bullets"/>
          <p:cNvSpPr txBox="1"/>
          <p:nvPr/>
        </p:nvSpPr>
        <p:spPr>
          <a:xfrm>
            <a:off x="7772400" y="361188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조문·항·호·목 개수 일치 (46 / 166 / 191 / 13)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조문 본문 46/46 일치</a:t>
            </a:r>
            <a:endParaRPr lang="en-US" sz="1400" dirty="0"/>
          </a:p>
        </p:txBody>
      </p:sp>
      <p:sp>
        <p:nvSpPr>
          <p:cNvPr id="19" name="Why"/>
          <p:cNvSpPr txBox="1"/>
          <p:nvPr/>
        </p:nvSpPr>
        <p:spPr>
          <a:xfrm>
            <a:off x="640080" y="525780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왜 이렇게 골랐나  </a:t>
            </a:r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형식마다 구조 정확도가 다르다. 정답지와 비교할 수 있어야 로더를 믿을 수 있다. 실제 평가는 모두 XML로 적재한 데이터 기준이다.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청킹: 조 1개를 청크 1개로, 필요한 곳만 더 잘게</a:t>
            </a:r>
            <a:endParaRPr lang="en-US" sz="2800" dirty="0"/>
          </a:p>
        </p:txBody>
      </p:sp>
      <p:sp>
        <p:nvSpPr>
          <p:cNvPr id="3" name="Rule row 1"/>
          <p:cNvSpPr/>
          <p:nvPr/>
        </p:nvSpPr>
        <p:spPr>
          <a:xfrm>
            <a:off x="640080" y="1508760"/>
            <a:ext cx="6949440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Rule target 1"/>
          <p:cNvSpPr txBox="1"/>
          <p:nvPr/>
        </p:nvSpPr>
        <p:spPr>
          <a:xfrm>
            <a:off x="868680" y="1508760"/>
            <a:ext cx="1737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일반 조</a:t>
            </a:r>
            <a:endParaRPr lang="en-US" sz="1600" dirty="0"/>
          </a:p>
        </p:txBody>
      </p:sp>
      <p:sp>
        <p:nvSpPr>
          <p:cNvPr id="5" name="Rule unit 1"/>
          <p:cNvSpPr txBox="1"/>
          <p:nvPr/>
        </p:nvSpPr>
        <p:spPr>
          <a:xfrm>
            <a:off x="2651760" y="16184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조 1개 = 청크 1개</a:t>
            </a:r>
            <a:endParaRPr lang="en-US" sz="1500" dirty="0"/>
          </a:p>
        </p:txBody>
      </p:sp>
      <p:sp>
        <p:nvSpPr>
          <p:cNvPr id="6" name="Rule reason 1"/>
          <p:cNvSpPr txBox="1"/>
          <p:nvPr/>
        </p:nvSpPr>
        <p:spPr>
          <a:xfrm>
            <a:off x="2651760" y="19842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답변 출처("제○조")와 1:1로 대응</a:t>
            </a:r>
            <a:endParaRPr lang="en-US" sz="1300" dirty="0"/>
          </a:p>
        </p:txBody>
      </p:sp>
      <p:sp>
        <p:nvSpPr>
          <p:cNvPr id="7" name="Rule row 2"/>
          <p:cNvSpPr/>
          <p:nvPr/>
        </p:nvSpPr>
        <p:spPr>
          <a:xfrm>
            <a:off x="640080" y="2532888"/>
            <a:ext cx="6949440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Rule target 2"/>
          <p:cNvSpPr txBox="1"/>
          <p:nvPr/>
        </p:nvSpPr>
        <p:spPr>
          <a:xfrm>
            <a:off x="868680" y="2532888"/>
            <a:ext cx="1737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제2조 정의</a:t>
            </a:r>
            <a:endParaRPr lang="en-US" sz="1600" dirty="0"/>
          </a:p>
        </p:txBody>
      </p:sp>
      <p:sp>
        <p:nvSpPr>
          <p:cNvPr id="9" name="Rule unit 2"/>
          <p:cNvSpPr txBox="1"/>
          <p:nvPr/>
        </p:nvSpPr>
        <p:spPr>
          <a:xfrm>
            <a:off x="2651760" y="264261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호 1개 = 청크 1개</a:t>
            </a:r>
            <a:endParaRPr lang="en-US" sz="1500" dirty="0"/>
          </a:p>
        </p:txBody>
      </p:sp>
      <p:sp>
        <p:nvSpPr>
          <p:cNvPr id="10" name="Rule reason 2"/>
          <p:cNvSpPr txBox="1"/>
          <p:nvPr/>
        </p:nvSpPr>
        <p:spPr>
          <a:xfrm>
            <a:off x="2651760" y="30083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정의 12개가 섞이면 "고영향 AI란?"에 약함</a:t>
            </a:r>
            <a:endParaRPr lang="en-US" sz="1300" dirty="0"/>
          </a:p>
        </p:txBody>
      </p:sp>
      <p:sp>
        <p:nvSpPr>
          <p:cNvPr id="11" name="Rule row 3"/>
          <p:cNvSpPr/>
          <p:nvPr/>
        </p:nvSpPr>
        <p:spPr>
          <a:xfrm>
            <a:off x="640080" y="3557016"/>
            <a:ext cx="6949440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Rule target 3"/>
          <p:cNvSpPr txBox="1"/>
          <p:nvPr/>
        </p:nvSpPr>
        <p:spPr>
          <a:xfrm>
            <a:off x="868680" y="3557016"/>
            <a:ext cx="1737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1000자 넘는 조</a:t>
            </a:r>
            <a:endParaRPr lang="en-US" sz="1600" dirty="0"/>
          </a:p>
        </p:txBody>
      </p:sp>
      <p:sp>
        <p:nvSpPr>
          <p:cNvPr id="13" name="Rule unit 3"/>
          <p:cNvSpPr txBox="1"/>
          <p:nvPr/>
        </p:nvSpPr>
        <p:spPr>
          <a:xfrm>
            <a:off x="2651760" y="366674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항 경계를 지켜 분할</a:t>
            </a:r>
            <a:endParaRPr lang="en-US" sz="1500" dirty="0"/>
          </a:p>
        </p:txBody>
      </p:sp>
      <p:sp>
        <p:nvSpPr>
          <p:cNvPr id="14" name="Rule reason 3"/>
          <p:cNvSpPr txBox="1"/>
          <p:nvPr/>
        </p:nvSpPr>
        <p:spPr>
          <a:xfrm>
            <a:off x="2651760" y="40325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항 중간에서 자르면 뜻이 깨짐</a:t>
            </a:r>
            <a:endParaRPr lang="en-US" sz="1300" dirty="0"/>
          </a:p>
        </p:txBody>
      </p:sp>
      <p:sp>
        <p:nvSpPr>
          <p:cNvPr id="15" name="Rule row 4"/>
          <p:cNvSpPr/>
          <p:nvPr/>
        </p:nvSpPr>
        <p:spPr>
          <a:xfrm>
            <a:off x="640080" y="4581144"/>
            <a:ext cx="6949440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Rule target 4"/>
          <p:cNvSpPr txBox="1"/>
          <p:nvPr/>
        </p:nvSpPr>
        <p:spPr>
          <a:xfrm>
            <a:off x="868680" y="4581144"/>
            <a:ext cx="1737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부칙</a:t>
            </a:r>
            <a:endParaRPr lang="en-US" sz="1600" dirty="0"/>
          </a:p>
        </p:txBody>
      </p:sp>
      <p:sp>
        <p:nvSpPr>
          <p:cNvPr id="17" name="Rule unit 4"/>
          <p:cNvSpPr txBox="1"/>
          <p:nvPr/>
        </p:nvSpPr>
        <p:spPr>
          <a:xfrm>
            <a:off x="2651760" y="46908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시행일 있는 2건만</a:t>
            </a:r>
            <a:endParaRPr lang="en-US" sz="1500" dirty="0"/>
          </a:p>
        </p:txBody>
      </p:sp>
      <p:sp>
        <p:nvSpPr>
          <p:cNvPr id="18" name="Rule reason 4"/>
          <p:cNvSpPr txBox="1"/>
          <p:nvPr/>
        </p:nvSpPr>
        <p:spPr>
          <a:xfrm>
            <a:off x="2651760" y="50566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정부조직법 개정 부칙은 제외</a:t>
            </a:r>
            <a:endParaRPr lang="en-US" sz="1300" dirty="0"/>
          </a:p>
        </p:txBody>
      </p:sp>
      <p:sp>
        <p:nvSpPr>
          <p:cNvPr id="19" name="Chunk stat"/>
          <p:cNvSpPr txBox="1"/>
          <p:nvPr/>
        </p:nvSpPr>
        <p:spPr>
          <a:xfrm>
            <a:off x="8229600" y="16002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b="1" dirty="0">
                <a:solidFill>
                  <a:schemeClr val="accent1"/>
                </a:solidFill>
              </a:rPr>
              <a:t>46 → 62</a:t>
            </a:r>
            <a:endParaRPr lang="en-US" sz="5600" dirty="0"/>
          </a:p>
        </p:txBody>
      </p:sp>
      <p:sp>
        <p:nvSpPr>
          <p:cNvPr id="20" name="Chunk stat caption"/>
          <p:cNvSpPr txBox="1"/>
          <p:nvPr/>
        </p:nvSpPr>
        <p:spPr>
          <a:xfrm>
            <a:off x="8229600" y="2651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조문 46개가 청크 62개로</a:t>
            </a:r>
            <a:endParaRPr lang="en-US" sz="1400" dirty="0"/>
          </a:p>
        </p:txBody>
      </p:sp>
      <p:sp>
        <p:nvSpPr>
          <p:cNvPr id="21" name="Chunk bullets"/>
          <p:cNvSpPr txBox="1"/>
          <p:nvPr/>
        </p:nvSpPr>
        <p:spPr>
          <a:xfrm>
            <a:off x="8229600" y="329184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길이: 최소 75자 / 중앙 368자 / 최대 956자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모든 청크 앞에 장·절 경로를 붙여 소속도 검색에 반영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버린 대안: 항 단위 전부 분할, 고정 길이 분할</a:t>
            </a:r>
            <a:endParaRPr lang="en-US" sz="1400" dirty="0"/>
          </a:p>
        </p:txBody>
      </p:sp>
      <p:sp>
        <p:nvSpPr>
          <p:cNvPr id="22" name="Caveat box"/>
          <p:cNvSpPr/>
          <p:nvPr/>
        </p:nvSpPr>
        <p:spPr>
          <a:xfrm>
            <a:off x="640080" y="5715000"/>
            <a:ext cx="10908792" cy="640080"/>
          </a:xfrm>
          <a:prstGeom prst="roundRect">
            <a:avLst>
              <a:gd name="adj" fmla="val 1714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3" name="Caveat text"/>
          <p:cNvSpPr txBox="1"/>
          <p:nvPr/>
        </p:nvSpPr>
        <p:spPr>
          <a:xfrm>
            <a:off x="868680" y="5715000"/>
            <a:ext cx="10451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한계: 제2조를 호 단위로 쪼갠 효과는 쪼개지 않은 경우와 직접 비교하지 않았다. 효과가 있어 보일 뿐 입증은 아니다.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검색 실험: 한 번에 하나씩 추가하고, 같은 시험지로 비교했다</a:t>
            </a:r>
            <a:endParaRPr lang="en-US" sz="2800" dirty="0"/>
          </a:p>
        </p:txBody>
      </p:sp>
      <p:sp>
        <p:nvSpPr>
          <p:cNvPr id="3" name="Step card R0"/>
          <p:cNvSpPr/>
          <p:nvPr/>
        </p:nvSpPr>
        <p:spPr>
          <a:xfrm>
            <a:off x="640080" y="1645920"/>
            <a:ext cx="338328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ep id R0"/>
          <p:cNvSpPr txBox="1"/>
          <p:nvPr/>
        </p:nvSpPr>
        <p:spPr>
          <a:xfrm>
            <a:off x="914400" y="17830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R0</a:t>
            </a:r>
            <a:endParaRPr lang="en-US" sz="4000" dirty="0"/>
          </a:p>
        </p:txBody>
      </p:sp>
      <p:sp>
        <p:nvSpPr>
          <p:cNvPr id="5" name="Step name R0"/>
          <p:cNvSpPr txBox="1"/>
          <p:nvPr/>
        </p:nvSpPr>
        <p:spPr>
          <a:xfrm>
            <a:off x="914400" y="26060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Dense 검색만</a:t>
            </a:r>
            <a:endParaRPr lang="en-US" sz="1800" dirty="0"/>
          </a:p>
        </p:txBody>
      </p:sp>
      <p:sp>
        <p:nvSpPr>
          <p:cNvPr id="6" name="Step goal R0"/>
          <p:cNvSpPr txBox="1"/>
          <p:nvPr/>
        </p:nvSpPr>
        <p:spPr>
          <a:xfrm>
            <a:off x="914400" y="3108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확인할 것: 기준선</a:t>
            </a:r>
            <a:endParaRPr lang="en-US" sz="1400" dirty="0"/>
          </a:p>
        </p:txBody>
      </p:sp>
      <p:sp>
        <p:nvSpPr>
          <p:cNvPr id="7" name="Step arrow 1"/>
          <p:cNvSpPr/>
          <p:nvPr/>
        </p:nvSpPr>
        <p:spPr>
          <a:xfrm>
            <a:off x="4041648" y="2606040"/>
            <a:ext cx="274320" cy="27432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Step card R1"/>
          <p:cNvSpPr/>
          <p:nvPr/>
        </p:nvSpPr>
        <p:spPr>
          <a:xfrm>
            <a:off x="4343400" y="1645920"/>
            <a:ext cx="338328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tep id R1"/>
          <p:cNvSpPr txBox="1"/>
          <p:nvPr/>
        </p:nvSpPr>
        <p:spPr>
          <a:xfrm>
            <a:off x="4617720" y="17830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R1</a:t>
            </a:r>
            <a:endParaRPr lang="en-US" sz="4000" dirty="0"/>
          </a:p>
        </p:txBody>
      </p:sp>
      <p:sp>
        <p:nvSpPr>
          <p:cNvPr id="10" name="Step name R1"/>
          <p:cNvSpPr txBox="1"/>
          <p:nvPr/>
        </p:nvSpPr>
        <p:spPr>
          <a:xfrm>
            <a:off x="4617720" y="26060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+ Multi Query</a:t>
            </a:r>
            <a:endParaRPr lang="en-US" sz="1800" dirty="0"/>
          </a:p>
        </p:txBody>
      </p:sp>
      <p:sp>
        <p:nvSpPr>
          <p:cNvPr id="11" name="Step goal R1"/>
          <p:cNvSpPr txBox="1"/>
          <p:nvPr/>
        </p:nvSpPr>
        <p:spPr>
          <a:xfrm>
            <a:off x="4617720" y="3108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확인할 것: 일상어 질문이 좋아지나</a:t>
            </a:r>
            <a:endParaRPr lang="en-US" sz="1400" dirty="0"/>
          </a:p>
        </p:txBody>
      </p:sp>
      <p:sp>
        <p:nvSpPr>
          <p:cNvPr id="12" name="Step arrow 2"/>
          <p:cNvSpPr/>
          <p:nvPr/>
        </p:nvSpPr>
        <p:spPr>
          <a:xfrm>
            <a:off x="7744968" y="2606040"/>
            <a:ext cx="274320" cy="27432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Step card R2"/>
          <p:cNvSpPr/>
          <p:nvPr/>
        </p:nvSpPr>
        <p:spPr>
          <a:xfrm>
            <a:off x="8046720" y="1645920"/>
            <a:ext cx="3383280" cy="219456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Step id R2"/>
          <p:cNvSpPr txBox="1"/>
          <p:nvPr/>
        </p:nvSpPr>
        <p:spPr>
          <a:xfrm>
            <a:off x="8321040" y="17830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R2</a:t>
            </a:r>
            <a:endParaRPr lang="en-US" sz="4000" dirty="0"/>
          </a:p>
        </p:txBody>
      </p:sp>
      <p:sp>
        <p:nvSpPr>
          <p:cNvPr id="15" name="Step name R2"/>
          <p:cNvSpPr txBox="1"/>
          <p:nvPr/>
        </p:nvSpPr>
        <p:spPr>
          <a:xfrm>
            <a:off x="8321040" y="26060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+ Reranker</a:t>
            </a:r>
            <a:endParaRPr lang="en-US" sz="1800" dirty="0"/>
          </a:p>
        </p:txBody>
      </p:sp>
      <p:sp>
        <p:nvSpPr>
          <p:cNvPr id="16" name="Step goal R2"/>
          <p:cNvSpPr txBox="1"/>
          <p:nvPr/>
        </p:nvSpPr>
        <p:spPr>
          <a:xfrm>
            <a:off x="8321040" y="3108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확인할 것: 순위가 바로잡히나</a:t>
            </a:r>
            <a:endParaRPr lang="en-US" sz="1400" dirty="0"/>
          </a:p>
        </p:txBody>
      </p:sp>
      <p:sp>
        <p:nvSpPr>
          <p:cNvPr id="17" name="Reason title 1"/>
          <p:cNvSpPr txBox="1"/>
          <p:nvPr/>
        </p:nvSpPr>
        <p:spPr>
          <a:xfrm>
            <a:off x="640080" y="4251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왜 이 순서로</a:t>
            </a:r>
            <a:endParaRPr lang="en-US" sz="1600" dirty="0"/>
          </a:p>
        </p:txBody>
      </p:sp>
      <p:sp>
        <p:nvSpPr>
          <p:cNvPr id="18" name="Reason body 1"/>
          <p:cNvSpPr txBox="1"/>
          <p:nvPr/>
        </p:nvSpPr>
        <p:spPr>
          <a:xfrm>
            <a:off x="640080" y="47091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효과가 수치로 확인된 것만 남기려고, 한 가지씩 추가하며 매번 같은 골든셋으로 쟀다.</a:t>
            </a:r>
            <a:endParaRPr lang="en-US" sz="1400" dirty="0"/>
          </a:p>
        </p:txBody>
      </p:sp>
      <p:sp>
        <p:nvSpPr>
          <p:cNvPr id="19" name="Reason title 2"/>
          <p:cNvSpPr txBox="1"/>
          <p:nvPr/>
        </p:nvSpPr>
        <p:spPr>
          <a:xfrm>
            <a:off x="4343400" y="4251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왜 Hybrid(BM25)는 뺐나</a:t>
            </a:r>
            <a:endParaRPr lang="en-US" sz="1600" dirty="0"/>
          </a:p>
        </p:txBody>
      </p:sp>
      <p:sp>
        <p:nvSpPr>
          <p:cNvPr id="20" name="Reason body 2"/>
          <p:cNvSpPr txBox="1"/>
          <p:nvPr/>
        </p:nvSpPr>
        <p:spPr>
          <a:xfrm>
            <a:off x="4343400" y="47091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한국어는 조사 때문에 형태소 분석이 필요해 구현 부담이 컸다. 대신 Multi Query와 Reranker를 비교했다.</a:t>
            </a:r>
            <a:endParaRPr lang="en-US" sz="1400" dirty="0"/>
          </a:p>
        </p:txBody>
      </p:sp>
      <p:sp>
        <p:nvSpPr>
          <p:cNvPr id="21" name="Reason title 3"/>
          <p:cNvSpPr txBox="1"/>
          <p:nvPr/>
        </p:nvSpPr>
        <p:spPr>
          <a:xfrm>
            <a:off x="8046720" y="4251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왜 임베딩은 고정했나</a:t>
            </a:r>
            <a:endParaRPr lang="en-US" sz="1600" dirty="0"/>
          </a:p>
        </p:txBody>
      </p:sp>
      <p:sp>
        <p:nvSpPr>
          <p:cNvPr id="22" name="Reason body 3"/>
          <p:cNvSpPr txBox="1"/>
          <p:nvPr/>
        </p:nvSpPr>
        <p:spPr>
          <a:xfrm>
            <a:off x="8046720" y="47091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text-embedding-3-small로 고정해야 성능 차이의 원인이 검색 방식 때문이라고 말할 수 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검색 결과: Reranker를 붙이자 순위 지표가 크게 올랐다</a:t>
            </a:r>
            <a:endParaRPr lang="en-US" sz="2800" dirty="0"/>
          </a:p>
        </p:txBody>
      </p:sp>
      <p:graphicFrame>
        <p:nvGraphicFramePr>
          <p:cNvPr id="3" name="Retrieval chart" descr=""/>
          <p:cNvGraphicFramePr/>
          <p:nvPr/>
        </p:nvGraphicFramePr>
        <p:xfrm>
          <a:off x="640080" y="1463040"/>
          <a:ext cx="72237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Delta label"/>
          <p:cNvSpPr txBox="1"/>
          <p:nvPr/>
        </p:nvSpPr>
        <p:spPr>
          <a:xfrm>
            <a:off x="8229600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R2 vs R0</a:t>
            </a:r>
            <a:endParaRPr lang="en-US" sz="1400" dirty="0"/>
          </a:p>
        </p:txBody>
      </p:sp>
      <p:sp>
        <p:nvSpPr>
          <p:cNvPr id="5" name="Delta hit1"/>
          <p:cNvSpPr txBox="1"/>
          <p:nvPr/>
        </p:nvSpPr>
        <p:spPr>
          <a:xfrm>
            <a:off x="8229600" y="2011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Hit@1  +0.18</a:t>
            </a:r>
            <a:endParaRPr lang="en-US" sz="2200" dirty="0"/>
          </a:p>
        </p:txBody>
      </p:sp>
      <p:sp>
        <p:nvSpPr>
          <p:cNvPr id="6" name="Delta mrr"/>
          <p:cNvSpPr txBox="1"/>
          <p:nvPr/>
        </p:nvSpPr>
        <p:spPr>
          <a:xfrm>
            <a:off x="8229600" y="2514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MRR  +0.14</a:t>
            </a:r>
            <a:endParaRPr lang="en-US" sz="2200" dirty="0"/>
          </a:p>
        </p:txBody>
      </p:sp>
      <p:sp>
        <p:nvSpPr>
          <p:cNvPr id="7" name="Delta hit5"/>
          <p:cNvSpPr txBox="1"/>
          <p:nvPr/>
        </p:nvSpPr>
        <p:spPr>
          <a:xfrm>
            <a:off x="8229600" y="3017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Hit@5  0.91 → 1.00</a:t>
            </a:r>
            <a:endParaRPr lang="en-US" sz="2200" dirty="0"/>
          </a:p>
        </p:txBody>
      </p:sp>
      <p:sp>
        <p:nvSpPr>
          <p:cNvPr id="8" name="Chart notes"/>
          <p:cNvSpPr txBox="1"/>
          <p:nvPr/>
        </p:nvSpPr>
        <p:spPr>
          <a:xfrm>
            <a:off x="8229600" y="393192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Hit@5는 1.00에 도달해 더는 변별력이 없다. 이후엔 Hit@1, MRR, Chunk@1을 본다.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청크가 62개뿐이라 K가 크면 거의 항상 정답이 포함된다.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해석: Multi Query는 엇갈렸고, Reranker와 함께일 때 효과가 났다</a:t>
            </a:r>
            <a:endParaRPr lang="en-US" sz="2800" dirty="0"/>
          </a:p>
        </p:txBody>
      </p:sp>
      <p:sp>
        <p:nvSpPr>
          <p:cNvPr id="3" name="R1 card"/>
          <p:cNvSpPr/>
          <p:nvPr/>
        </p:nvSpPr>
        <p:spPr>
          <a:xfrm>
            <a:off x="640080" y="1554480"/>
            <a:ext cx="5349240" cy="374904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R1 title"/>
          <p:cNvSpPr txBox="1"/>
          <p:nvPr/>
        </p:nvSpPr>
        <p:spPr>
          <a:xfrm>
            <a:off x="914400" y="17373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R1 Multi Query</a:t>
            </a:r>
            <a:endParaRPr lang="en-US" sz="2000" dirty="0"/>
          </a:p>
        </p:txBody>
      </p:sp>
      <p:sp>
        <p:nvSpPr>
          <p:cNvPr id="5" name="R1 bullets"/>
          <p:cNvSpPr txBox="1"/>
          <p:nvPr/>
        </p:nvSpPr>
        <p:spPr>
          <a:xfrm>
            <a:off x="914400" y="2286000"/>
            <a:ext cx="4800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구어체 Hit@3  0.70 → 1.00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시행일 Hit@1  1.00 → 0.50 (나빠짐)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좋아진 질문 9개, 나빠진 질문 10개. 54문항에서 ±0.07은 질문 4개 차이라 우연과 구분하기 어렵다.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정답을 후보에 넣어 주지만 순위는 흩뜨린다.</a:t>
            </a:r>
            <a:endParaRPr lang="en-US" sz="1400" dirty="0"/>
          </a:p>
        </p:txBody>
      </p:sp>
      <p:sp>
        <p:nvSpPr>
          <p:cNvPr id="6" name="R2 card"/>
          <p:cNvSpPr/>
          <p:nvPr/>
        </p:nvSpPr>
        <p:spPr>
          <a:xfrm>
            <a:off x="6355080" y="1554480"/>
            <a:ext cx="5212080" cy="3749040"/>
          </a:xfrm>
          <a:prstGeom prst="roundRect">
            <a:avLst>
              <a:gd name="adj" fmla="val 29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R2 title"/>
          <p:cNvSpPr txBox="1"/>
          <p:nvPr/>
        </p:nvSpPr>
        <p:spPr>
          <a:xfrm>
            <a:off x="6629400" y="17373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R2 Reranker</a:t>
            </a:r>
            <a:endParaRPr lang="en-US" sz="2000" dirty="0"/>
          </a:p>
        </p:txBody>
      </p:sp>
      <p:sp>
        <p:nvSpPr>
          <p:cNvPr id="8" name="R2 bullets"/>
          <p:cNvSpPr txBox="1"/>
          <p:nvPr/>
        </p:nvSpPr>
        <p:spPr>
          <a:xfrm>
            <a:off x="6629400" y="2286000"/>
            <a:ext cx="4663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2"/>
                </a:solidFill>
              </a:rPr>
              <a:t>R1 대비: 좋아진 질문 18개, 나빠진 질문 1개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2"/>
                </a:solidFill>
              </a:rPr>
              <a:t>R0 대비: 좋아진 질문 15개, 나빠진 질문 4개, 그대로 35개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구어체·의무벌칙·정책기관·시행일 Hit@1이 거의 만점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R1이 후보를 넓히고, R2가 그 안에서 정답을 위로 올리는 역할 분담</a:t>
            </a:r>
            <a:endParaRPr lang="en-US" sz="1400" dirty="0"/>
          </a:p>
        </p:txBody>
      </p:sp>
      <p:sp>
        <p:nvSpPr>
          <p:cNvPr id="9" name="Limit box"/>
          <p:cNvSpPr/>
          <p:nvPr/>
        </p:nvSpPr>
        <p:spPr>
          <a:xfrm>
            <a:off x="640080" y="5532120"/>
            <a:ext cx="10908792" cy="777240"/>
          </a:xfrm>
          <a:prstGeom prst="roundRect">
            <a:avLst>
              <a:gd name="adj" fmla="val 1411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Limit text"/>
          <p:cNvSpPr txBox="1"/>
          <p:nvPr/>
        </p:nvSpPr>
        <p:spPr>
          <a:xfrm>
            <a:off x="914400" y="553212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측정하지 않은 것: R0에 R2만 붙인 구성. 그래서 "R1이 꼭 필요했는가"는 이 실험으로 답할 수 없다.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지표 하나만 보면 놓치는 것 세 가지</a:t>
            </a:r>
            <a:endParaRPr lang="en-US" sz="2800" dirty="0"/>
          </a:p>
        </p:txBody>
      </p:sp>
      <p:sp>
        <p:nvSpPr>
          <p:cNvPr id="3" name="Pitfall card 1"/>
          <p:cNvSpPr/>
          <p:nvPr/>
        </p:nvSpPr>
        <p:spPr>
          <a:xfrm>
            <a:off x="640080" y="1554480"/>
            <a:ext cx="3383280" cy="457200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itfall title 1"/>
          <p:cNvSpPr txBox="1"/>
          <p:nvPr/>
        </p:nvSpPr>
        <p:spPr>
          <a:xfrm>
            <a:off x="868680" y="1737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① 정의형 q01</a:t>
            </a:r>
            <a:endParaRPr lang="en-US" sz="1800" dirty="0"/>
          </a:p>
        </p:txBody>
      </p:sp>
      <p:sp>
        <p:nvSpPr>
          <p:cNvPr id="5" name="Pitfall question 1"/>
          <p:cNvSpPr txBox="1"/>
          <p:nvPr/>
        </p:nvSpPr>
        <p:spPr>
          <a:xfrm>
            <a:off x="868680" y="21945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"고영향 인공지능이란?"</a:t>
            </a:r>
            <a:endParaRPr lang="en-US" sz="1400" dirty="0"/>
          </a:p>
        </p:txBody>
      </p:sp>
      <p:sp>
        <p:nvSpPr>
          <p:cNvPr id="6" name="Pitfall body 1"/>
          <p:cNvSpPr txBox="1"/>
          <p:nvPr/>
        </p:nvSpPr>
        <p:spPr>
          <a:xfrm>
            <a:off x="868680" y="274320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조문 단위 Hit은 제2조의 다른 호가 나와도 "맞음"으로 센다. 그래서 "개선"으로 집계됐지만 실제 답변은 정의를 말하지 못했다.</a:t>
            </a:r>
            <a:endParaRPr lang="en-US" sz="1400" dirty="0"/>
          </a:p>
        </p:txBody>
      </p:sp>
      <p:sp>
        <p:nvSpPr>
          <p:cNvPr id="7" name="Pitfall takeaway 1"/>
          <p:cNvSpPr txBox="1"/>
          <p:nvPr/>
        </p:nvSpPr>
        <p:spPr>
          <a:xfrm>
            <a:off x="868680" y="48463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청크 단위로 봐야 보인다 (R1 Chunk@1 0.69 &lt; R0 0.77)</a:t>
            </a:r>
            <a:endParaRPr lang="en-US" sz="1400" dirty="0"/>
          </a:p>
        </p:txBody>
      </p:sp>
      <p:sp>
        <p:nvSpPr>
          <p:cNvPr id="8" name="Pitfall card 2"/>
          <p:cNvSpPr/>
          <p:nvPr/>
        </p:nvSpPr>
        <p:spPr>
          <a:xfrm>
            <a:off x="4343400" y="1554480"/>
            <a:ext cx="3383280" cy="457200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itfall title 2"/>
          <p:cNvSpPr txBox="1"/>
          <p:nvPr/>
        </p:nvSpPr>
        <p:spPr>
          <a:xfrm>
            <a:off x="4572000" y="1737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② 조문번호형</a:t>
            </a:r>
            <a:endParaRPr lang="en-US" sz="1800" dirty="0"/>
          </a:p>
        </p:txBody>
      </p:sp>
      <p:sp>
        <p:nvSpPr>
          <p:cNvPr id="10" name="Pitfall question 2"/>
          <p:cNvSpPr txBox="1"/>
          <p:nvPr/>
        </p:nvSpPr>
        <p:spPr>
          <a:xfrm>
            <a:off x="4572000" y="21945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"제31조는?"</a:t>
            </a:r>
            <a:endParaRPr lang="en-US" sz="1400" dirty="0"/>
          </a:p>
        </p:txBody>
      </p:sp>
      <p:sp>
        <p:nvSpPr>
          <p:cNvPr id="11" name="Pitfall body 2"/>
          <p:cNvSpPr txBox="1"/>
          <p:nvPr/>
        </p:nvSpPr>
        <p:spPr>
          <a:xfrm>
            <a:off x="4572000" y="274320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Hit@3은 1.00인데 Hit@1은 0.50이다. 제31조를 언급만 한 다른 조문이 정답과 같은 10점을 받아 동점이 된다.</a:t>
            </a:r>
            <a:endParaRPr lang="en-US" sz="1400" dirty="0"/>
          </a:p>
        </p:txBody>
      </p:sp>
      <p:sp>
        <p:nvSpPr>
          <p:cNvPr id="12" name="Pitfall takeaway 2"/>
          <p:cNvSpPr txBox="1"/>
          <p:nvPr/>
        </p:nvSpPr>
        <p:spPr>
          <a:xfrm>
            <a:off x="4572000" y="48463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정규식 + 메타데이터 필터가 맞는 처방 (미구현)</a:t>
            </a:r>
            <a:endParaRPr lang="en-US" sz="1400" dirty="0"/>
          </a:p>
        </p:txBody>
      </p:sp>
      <p:sp>
        <p:nvSpPr>
          <p:cNvPr id="13" name="Pitfall card 3"/>
          <p:cNvSpPr/>
          <p:nvPr/>
        </p:nvSpPr>
        <p:spPr>
          <a:xfrm>
            <a:off x="8046720" y="1554480"/>
            <a:ext cx="3383280" cy="457200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itfall title 3"/>
          <p:cNvSpPr txBox="1"/>
          <p:nvPr/>
        </p:nvSpPr>
        <p:spPr>
          <a:xfrm>
            <a:off x="8275320" y="1737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③ 의무·벌칙형</a:t>
            </a:r>
            <a:endParaRPr lang="en-US" sz="1800" dirty="0"/>
          </a:p>
        </p:txBody>
      </p:sp>
      <p:sp>
        <p:nvSpPr>
          <p:cNvPr id="15" name="Pitfall question 3"/>
          <p:cNvSpPr txBox="1"/>
          <p:nvPr/>
        </p:nvSpPr>
        <p:spPr>
          <a:xfrm>
            <a:off x="8275320" y="21945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"알리지 않으면 과태료는?"</a:t>
            </a:r>
            <a:endParaRPr lang="en-US" sz="1400" dirty="0"/>
          </a:p>
        </p:txBody>
      </p:sp>
      <p:sp>
        <p:nvSpPr>
          <p:cNvPr id="16" name="Pitfall body 3"/>
          <p:cNvSpPr txBox="1"/>
          <p:nvPr/>
        </p:nvSpPr>
        <p:spPr>
          <a:xfrm>
            <a:off x="8275320" y="274320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Hit@1은 1.00인데 Recall@5는 0.88이다. 의무 조문은 찾았지만 과태료 조문을 놓친 질문이 있다.</a:t>
            </a:r>
            <a:endParaRPr lang="en-US" sz="1400" dirty="0"/>
          </a:p>
        </p:txBody>
      </p:sp>
      <p:sp>
        <p:nvSpPr>
          <p:cNvPr id="17" name="Pitfall takeaway 3"/>
          <p:cNvSpPr txBox="1"/>
          <p:nvPr/>
        </p:nvSpPr>
        <p:spPr>
          <a:xfrm>
            <a:off x="8275320" y="48463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정답이 여럿이면 Recall을 함께 봐야 한다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답변 평가: 검색과 따로 재야 문제가 어디서 생기는지 안다</a:t>
            </a:r>
            <a:endParaRPr lang="en-US" sz="2800" dirty="0"/>
          </a:p>
        </p:txBody>
      </p:sp>
      <p:sp>
        <p:nvSpPr>
          <p:cNvPr id="3" name="Intro"/>
          <p:cNvSpPr txBox="1"/>
          <p:nvPr/>
        </p:nvSpPr>
        <p:spPr>
          <a:xfrm>
            <a:off x="640080" y="14173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검색이 좋아도 답변이 틀릴 수 있고, 검색이 틀려도 답변이 맞아 보일 수 있다.</a:t>
            </a:r>
            <a:endParaRPr lang="en-US" sz="1600" dirty="0"/>
          </a:p>
        </p:txBody>
      </p:sp>
      <p:sp>
        <p:nvSpPr>
          <p:cNvPr id="4" name="Eval row 1"/>
          <p:cNvSpPr/>
          <p:nvPr/>
        </p:nvSpPr>
        <p:spPr>
          <a:xfrm>
            <a:off x="640080" y="2011680"/>
            <a:ext cx="704088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val name 1"/>
          <p:cNvSpPr txBox="1"/>
          <p:nvPr/>
        </p:nvSpPr>
        <p:spPr>
          <a:xfrm>
            <a:off x="868680" y="20116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정답성</a:t>
            </a:r>
            <a:endParaRPr lang="en-US" sz="1500" dirty="0"/>
          </a:p>
        </p:txBody>
      </p:sp>
      <p:sp>
        <p:nvSpPr>
          <p:cNvPr id="6" name="Eval desc 1"/>
          <p:cNvSpPr txBox="1"/>
          <p:nvPr/>
        </p:nvSpPr>
        <p:spPr>
          <a:xfrm>
            <a:off x="2834640" y="20116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정답 근거와 맞는 핵심 내용을 담았나</a:t>
            </a:r>
            <a:endParaRPr lang="en-US" sz="1300" dirty="0"/>
          </a:p>
        </p:txBody>
      </p:sp>
      <p:sp>
        <p:nvSpPr>
          <p:cNvPr id="7" name="Eval who 1"/>
          <p:cNvSpPr txBox="1"/>
          <p:nvPr/>
        </p:nvSpPr>
        <p:spPr>
          <a:xfrm>
            <a:off x="6675120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LLM 심판</a:t>
            </a:r>
            <a:endParaRPr lang="en-US" sz="1200" dirty="0"/>
          </a:p>
        </p:txBody>
      </p:sp>
      <p:sp>
        <p:nvSpPr>
          <p:cNvPr id="8" name="Eval row 2"/>
          <p:cNvSpPr/>
          <p:nvPr/>
        </p:nvSpPr>
        <p:spPr>
          <a:xfrm>
            <a:off x="640080" y="2761488"/>
            <a:ext cx="704088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val name 2"/>
          <p:cNvSpPr txBox="1"/>
          <p:nvPr/>
        </p:nvSpPr>
        <p:spPr>
          <a:xfrm>
            <a:off x="868680" y="276148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관련성</a:t>
            </a:r>
            <a:endParaRPr lang="en-US" sz="1500" dirty="0"/>
          </a:p>
        </p:txBody>
      </p:sp>
      <p:sp>
        <p:nvSpPr>
          <p:cNvPr id="10" name="Eval desc 2"/>
          <p:cNvSpPr txBox="1"/>
          <p:nvPr/>
        </p:nvSpPr>
        <p:spPr>
          <a:xfrm>
            <a:off x="2834640" y="276148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질문에 대한 답인가</a:t>
            </a:r>
            <a:endParaRPr lang="en-US" sz="1300" dirty="0"/>
          </a:p>
        </p:txBody>
      </p:sp>
      <p:sp>
        <p:nvSpPr>
          <p:cNvPr id="11" name="Eval who 2"/>
          <p:cNvSpPr txBox="1"/>
          <p:nvPr/>
        </p:nvSpPr>
        <p:spPr>
          <a:xfrm>
            <a:off x="6675120" y="276148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LLM 심판</a:t>
            </a:r>
            <a:endParaRPr lang="en-US" sz="1200" dirty="0"/>
          </a:p>
        </p:txBody>
      </p:sp>
      <p:sp>
        <p:nvSpPr>
          <p:cNvPr id="12" name="Eval row 3"/>
          <p:cNvSpPr/>
          <p:nvPr/>
        </p:nvSpPr>
        <p:spPr>
          <a:xfrm>
            <a:off x="640080" y="3511296"/>
            <a:ext cx="704088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Eval name 3"/>
          <p:cNvSpPr txBox="1"/>
          <p:nvPr/>
        </p:nvSpPr>
        <p:spPr>
          <a:xfrm>
            <a:off x="868680" y="351129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근거 충실성</a:t>
            </a:r>
            <a:endParaRPr lang="en-US" sz="1500" dirty="0"/>
          </a:p>
        </p:txBody>
      </p:sp>
      <p:sp>
        <p:nvSpPr>
          <p:cNvPr id="14" name="Eval desc 3"/>
          <p:cNvSpPr txBox="1"/>
          <p:nvPr/>
        </p:nvSpPr>
        <p:spPr>
          <a:xfrm>
            <a:off x="2834640" y="351129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주장이 검색된 본문에서 확인되나</a:t>
            </a:r>
            <a:endParaRPr lang="en-US" sz="1300" dirty="0"/>
          </a:p>
        </p:txBody>
      </p:sp>
      <p:sp>
        <p:nvSpPr>
          <p:cNvPr id="15" name="Eval who 3"/>
          <p:cNvSpPr txBox="1"/>
          <p:nvPr/>
        </p:nvSpPr>
        <p:spPr>
          <a:xfrm>
            <a:off x="6675120" y="3511296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LLM 심판</a:t>
            </a:r>
            <a:endParaRPr lang="en-US" sz="1200" dirty="0"/>
          </a:p>
        </p:txBody>
      </p:sp>
      <p:sp>
        <p:nvSpPr>
          <p:cNvPr id="16" name="Eval row 4"/>
          <p:cNvSpPr/>
          <p:nvPr/>
        </p:nvSpPr>
        <p:spPr>
          <a:xfrm>
            <a:off x="640080" y="4261104"/>
            <a:ext cx="704088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Eval name 4"/>
          <p:cNvSpPr txBox="1"/>
          <p:nvPr/>
        </p:nvSpPr>
        <p:spPr>
          <a:xfrm>
            <a:off x="868680" y="4261104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환각</a:t>
            </a:r>
            <a:endParaRPr lang="en-US" sz="1500" dirty="0"/>
          </a:p>
        </p:txBody>
      </p:sp>
      <p:sp>
        <p:nvSpPr>
          <p:cNvPr id="18" name="Eval desc 4"/>
          <p:cNvSpPr txBox="1"/>
          <p:nvPr/>
        </p:nvSpPr>
        <p:spPr>
          <a:xfrm>
            <a:off x="2834640" y="426110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본문에 없는 사실을 말했나 (낮을수록 좋음)</a:t>
            </a:r>
            <a:endParaRPr lang="en-US" sz="1300" dirty="0"/>
          </a:p>
        </p:txBody>
      </p:sp>
      <p:sp>
        <p:nvSpPr>
          <p:cNvPr id="19" name="Eval who 4"/>
          <p:cNvSpPr txBox="1"/>
          <p:nvPr/>
        </p:nvSpPr>
        <p:spPr>
          <a:xfrm>
            <a:off x="6675120" y="4261104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LLM 심판</a:t>
            </a:r>
            <a:endParaRPr lang="en-US" sz="1200" dirty="0"/>
          </a:p>
        </p:txBody>
      </p:sp>
      <p:sp>
        <p:nvSpPr>
          <p:cNvPr id="20" name="Eval row 5"/>
          <p:cNvSpPr/>
          <p:nvPr/>
        </p:nvSpPr>
        <p:spPr>
          <a:xfrm>
            <a:off x="640080" y="5010912"/>
            <a:ext cx="704088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Eval name 5"/>
          <p:cNvSpPr txBox="1"/>
          <p:nvPr/>
        </p:nvSpPr>
        <p:spPr>
          <a:xfrm>
            <a:off x="868680" y="501091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조문 인용 · 거절</a:t>
            </a:r>
            <a:endParaRPr lang="en-US" sz="1500" dirty="0"/>
          </a:p>
        </p:txBody>
      </p:sp>
      <p:sp>
        <p:nvSpPr>
          <p:cNvPr id="22" name="Eval desc 5"/>
          <p:cNvSpPr txBox="1"/>
          <p:nvPr/>
        </p:nvSpPr>
        <p:spPr>
          <a:xfrm>
            <a:off x="2834640" y="501091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정답 조문 번호를 인용했나 / "확인되지 않는다"로 거절했나</a:t>
            </a:r>
            <a:endParaRPr lang="en-US" sz="1300" dirty="0"/>
          </a:p>
        </p:txBody>
      </p:sp>
      <p:sp>
        <p:nvSpPr>
          <p:cNvPr id="23" name="Eval who 5"/>
          <p:cNvSpPr txBox="1"/>
          <p:nvPr/>
        </p:nvSpPr>
        <p:spPr>
          <a:xfrm>
            <a:off x="6675120" y="501091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코드</a:t>
            </a:r>
            <a:endParaRPr lang="en-US" sz="1200" dirty="0"/>
          </a:p>
        </p:txBody>
      </p:sp>
      <p:sp>
        <p:nvSpPr>
          <p:cNvPr id="24" name="Trap card"/>
          <p:cNvSpPr/>
          <p:nvPr/>
        </p:nvSpPr>
        <p:spPr>
          <a:xfrm>
            <a:off x="8138160" y="2011680"/>
            <a:ext cx="3429000" cy="3657600"/>
          </a:xfrm>
          <a:prstGeom prst="roundRect">
            <a:avLst>
              <a:gd name="adj" fmla="val 32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rap title"/>
          <p:cNvSpPr txBox="1"/>
          <p:nvPr/>
        </p:nvSpPr>
        <p:spPr>
          <a:xfrm>
            <a:off x="8366760" y="21945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"법에 없음" 10문항</a:t>
            </a:r>
            <a:endParaRPr lang="en-US" sz="1800" dirty="0"/>
          </a:p>
        </p:txBody>
      </p:sp>
      <p:sp>
        <p:nvSpPr>
          <p:cNvPr id="26" name="Trap body"/>
          <p:cNvSpPr txBox="1"/>
          <p:nvPr/>
        </p:nvSpPr>
        <p:spPr>
          <a:xfrm>
            <a:off x="8366760" y="2743200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근거가 없을 때 지어내지 않고 거절하는지 본다. 이 중 4문항은 원문에 관련 단어는 있지만 답은 없는 "근접 오답"이다.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단어가 아예 없는 질문만 넣으면 검색이 엉뚱한 곳으로 가서 쉽게 거절되고, 환각 방지 점수가 부풀기 때문이다.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답변 결과: 대부분 높지만 의무·벌칙형과 주제형이 약하다</a:t>
            </a:r>
            <a:endParaRPr lang="en-US" sz="2800" dirty="0"/>
          </a:p>
        </p:txBody>
      </p:sp>
      <p:graphicFrame>
        <p:nvGraphicFramePr>
          <p:cNvPr id="3" name="Answer chart" descr=""/>
          <p:cNvGraphicFramePr/>
          <p:nvPr/>
        </p:nvGraphicFramePr>
        <p:xfrm>
          <a:off x="640080" y="1463040"/>
          <a:ext cx="75895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Overall label"/>
          <p:cNvSpPr txBox="1"/>
          <p:nvPr/>
        </p:nvSpPr>
        <p:spPr>
          <a:xfrm>
            <a:off x="8595360" y="1554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전체 64문항</a:t>
            </a:r>
            <a:endParaRPr lang="en-US" sz="1400" dirty="0"/>
          </a:p>
        </p:txBody>
      </p:sp>
      <p:sp>
        <p:nvSpPr>
          <p:cNvPr id="5" name="Overall name 1"/>
          <p:cNvSpPr txBox="1"/>
          <p:nvPr/>
        </p:nvSpPr>
        <p:spPr>
          <a:xfrm>
            <a:off x="8595360" y="1965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정답성</a:t>
            </a:r>
            <a:endParaRPr lang="en-US" sz="1600" dirty="0"/>
          </a:p>
        </p:txBody>
      </p:sp>
      <p:sp>
        <p:nvSpPr>
          <p:cNvPr id="6" name="Overall value 1"/>
          <p:cNvSpPr txBox="1"/>
          <p:nvPr/>
        </p:nvSpPr>
        <p:spPr>
          <a:xfrm>
            <a:off x="10332720" y="19659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0.84</a:t>
            </a:r>
            <a:endParaRPr lang="en-US" sz="2200" dirty="0"/>
          </a:p>
        </p:txBody>
      </p:sp>
      <p:sp>
        <p:nvSpPr>
          <p:cNvPr id="7" name="Overall name 2"/>
          <p:cNvSpPr txBox="1"/>
          <p:nvPr/>
        </p:nvSpPr>
        <p:spPr>
          <a:xfrm>
            <a:off x="8595360" y="25328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관련성</a:t>
            </a:r>
            <a:endParaRPr lang="en-US" sz="1600" dirty="0"/>
          </a:p>
        </p:txBody>
      </p:sp>
      <p:sp>
        <p:nvSpPr>
          <p:cNvPr id="8" name="Overall value 2"/>
          <p:cNvSpPr txBox="1"/>
          <p:nvPr/>
        </p:nvSpPr>
        <p:spPr>
          <a:xfrm>
            <a:off x="10332720" y="253288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1.00</a:t>
            </a:r>
            <a:endParaRPr lang="en-US" sz="2200" dirty="0"/>
          </a:p>
        </p:txBody>
      </p:sp>
      <p:sp>
        <p:nvSpPr>
          <p:cNvPr id="9" name="Overall name 3"/>
          <p:cNvSpPr txBox="1"/>
          <p:nvPr/>
        </p:nvSpPr>
        <p:spPr>
          <a:xfrm>
            <a:off x="8595360" y="309981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근거 충실성</a:t>
            </a:r>
            <a:endParaRPr lang="en-US" sz="1600" dirty="0"/>
          </a:p>
        </p:txBody>
      </p:sp>
      <p:sp>
        <p:nvSpPr>
          <p:cNvPr id="10" name="Overall value 3"/>
          <p:cNvSpPr txBox="1"/>
          <p:nvPr/>
        </p:nvSpPr>
        <p:spPr>
          <a:xfrm>
            <a:off x="10332720" y="309981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0.97</a:t>
            </a:r>
            <a:endParaRPr lang="en-US" sz="2200" dirty="0"/>
          </a:p>
        </p:txBody>
      </p:sp>
      <p:sp>
        <p:nvSpPr>
          <p:cNvPr id="11" name="Overall name 4"/>
          <p:cNvSpPr txBox="1"/>
          <p:nvPr/>
        </p:nvSpPr>
        <p:spPr>
          <a:xfrm>
            <a:off x="8595360" y="366674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환각</a:t>
            </a:r>
            <a:endParaRPr lang="en-US" sz="1600" dirty="0"/>
          </a:p>
        </p:txBody>
      </p:sp>
      <p:sp>
        <p:nvSpPr>
          <p:cNvPr id="12" name="Overall value 4"/>
          <p:cNvSpPr txBox="1"/>
          <p:nvPr/>
        </p:nvSpPr>
        <p:spPr>
          <a:xfrm>
            <a:off x="10332720" y="366674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0.05</a:t>
            </a:r>
            <a:endParaRPr lang="en-US" sz="2200" dirty="0"/>
          </a:p>
        </p:txBody>
      </p:sp>
      <p:sp>
        <p:nvSpPr>
          <p:cNvPr id="13" name="Result notes"/>
          <p:cNvSpPr txBox="1"/>
          <p:nvPr/>
        </p:nvSpPr>
        <p:spPr>
          <a:xfrm>
            <a:off x="8595360" y="443484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법에 없는 질문 10개를 전부 거절 (근접 오답 4개 포함)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환각 3건: q38, q49, q59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의무·벌칙형이 약한 이유: 과태료 조문(제43조)을 못 이었다</a:t>
            </a:r>
            <a:endParaRPr lang="en-US" sz="2800" dirty="0"/>
          </a:p>
        </p:txBody>
      </p:sp>
      <p:sp>
        <p:nvSpPr>
          <p:cNvPr id="3" name="Article 43 card"/>
          <p:cNvSpPr/>
          <p:nvPr/>
        </p:nvSpPr>
        <p:spPr>
          <a:xfrm>
            <a:off x="640080" y="1554480"/>
            <a:ext cx="566928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rt43 label"/>
          <p:cNvSpPr txBox="1"/>
          <p:nvPr/>
        </p:nvSpPr>
        <p:spPr>
          <a:xfrm>
            <a:off x="914400" y="1691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제43조(과태료) 원문</a:t>
            </a:r>
            <a:endParaRPr lang="en-US" sz="1400" dirty="0"/>
          </a:p>
        </p:txBody>
      </p:sp>
      <p:sp>
        <p:nvSpPr>
          <p:cNvPr id="5" name="Art43 text"/>
          <p:cNvSpPr txBox="1"/>
          <p:nvPr/>
        </p:nvSpPr>
        <p:spPr>
          <a:xfrm>
            <a:off x="914400" y="21488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1. 제31조제1항을 위반하여 고지를 이행하지 아니한 자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2. 제36조제1항을 위반하여 국내대리인을 지정하지 아니한 자</a:t>
            </a:r>
            <a:endParaRPr lang="en-US" sz="1400" dirty="0"/>
          </a:p>
        </p:txBody>
      </p:sp>
      <p:sp>
        <p:nvSpPr>
          <p:cNvPr id="6" name="Art43 why"/>
          <p:cNvSpPr txBox="1"/>
          <p:nvPr/>
        </p:nvSpPr>
        <p:spPr>
          <a:xfrm>
            <a:off x="914400" y="310896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조문 번호만 나열한 목록형이라, 질문의 "알리지 않으면", "대리인을 지정하지 않으면"과 문장이 겹치지 않는다.</a:t>
            </a:r>
            <a:endParaRPr lang="en-US" sz="1300" dirty="0"/>
          </a:p>
        </p:txBody>
      </p:sp>
      <p:sp>
        <p:nvSpPr>
          <p:cNvPr id="7" name="Fail title"/>
          <p:cNvSpPr txBox="1"/>
          <p:nvPr/>
        </p:nvSpPr>
        <p:spPr>
          <a:xfrm>
            <a:off x="6675120" y="1554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실패 3건 (q31, q32, q33)</a:t>
            </a:r>
            <a:endParaRPr lang="en-US" sz="1800" dirty="0"/>
          </a:p>
        </p:txBody>
      </p:sp>
      <p:sp>
        <p:nvSpPr>
          <p:cNvPr id="8" name="Fail bullets"/>
          <p:cNvSpPr txBox="1"/>
          <p:nvPr/>
        </p:nvSpPr>
        <p:spPr>
          <a:xfrm>
            <a:off x="6675120" y="205740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q31, q33: 상위 5개에 제43조가 없음 → "과태료는 확인되지 않는다"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q32: 제43조가 2위로 들어왔는데도 답변이 잇지 못함 (답변 생성 쪽 문제로 추정)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세 문항 모두 조문 단위 Hit@1은 1.0이라 Hit만 봤으면 드러나지 않았다</a:t>
            </a:r>
            <a:endParaRPr lang="en-US" sz="1400" dirty="0"/>
          </a:p>
        </p:txBody>
      </p:sp>
      <p:sp>
        <p:nvSpPr>
          <p:cNvPr id="9" name="Overcount card"/>
          <p:cNvSpPr/>
          <p:nvPr/>
        </p:nvSpPr>
        <p:spPr>
          <a:xfrm>
            <a:off x="640080" y="4343400"/>
            <a:ext cx="10908792" cy="1828800"/>
          </a:xfrm>
          <a:prstGeom prst="roundRect">
            <a:avLst>
              <a:gd name="adj" fmla="val 6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Overcount title"/>
          <p:cNvSpPr txBox="1"/>
          <p:nvPr/>
        </p:nvSpPr>
        <p:spPr>
          <a:xfrm>
            <a:off x="914400" y="4480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오거절 0.62는 과대 집계</a:t>
            </a:r>
            <a:endParaRPr lang="en-US" sz="1600" dirty="0"/>
          </a:p>
        </p:txBody>
      </p:sp>
      <p:sp>
        <p:nvSpPr>
          <p:cNvPr id="11" name="Overcount body"/>
          <p:cNvSpPr txBox="1"/>
          <p:nvPr/>
        </p:nvSpPr>
        <p:spPr>
          <a:xfrm>
            <a:off x="914400" y="4892040"/>
            <a:ext cx="10360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오거절로 센 5건 중 q27, q34는 정답 조문(제35조)을 찾았고, 답변도 "반드시 해야 한다고까지는 확인되지 않고 노력하여야 한다"는 원문과 맞는 취지다. "확인되지 않"이라는 문구가 답변 어디에든 있으면 거절로 세는 규칙 때문이다. 실제 오거절에 가까운 건 q31, q33 두 건이다.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한계와 다음 단계</a:t>
            </a:r>
            <a:endParaRPr lang="en-US" sz="2800" dirty="0"/>
          </a:p>
        </p:txBody>
      </p:sp>
      <p:sp>
        <p:nvSpPr>
          <p:cNvPr id="3" name="Limits title"/>
          <p:cNvSpPr txBox="1"/>
          <p:nvPr/>
        </p:nvSpPr>
        <p:spPr>
          <a:xfrm>
            <a:off x="640080" y="14630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점수를 읽을 때 주의할 점</a:t>
            </a:r>
            <a:endParaRPr lang="en-US" sz="1800" dirty="0"/>
          </a:p>
        </p:txBody>
      </p:sp>
      <p:sp>
        <p:nvSpPr>
          <p:cNvPr id="4" name="Limits bullets"/>
          <p:cNvSpPr txBox="1"/>
          <p:nvPr/>
        </p:nvSpPr>
        <p:spPr>
          <a:xfrm>
            <a:off x="640080" y="1965960"/>
            <a:ext cx="5303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같은 골든셋으로 고치고 쟀다. 개선폭이 낙관적일 수 있다</a:t>
            </a:r>
            <a:endParaRPr lang="en-US" sz="1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골든셋 64개를 사람이 전부 검토하지 못했다 (q34, q60~q63 우선)</a:t>
            </a:r>
            <a:endParaRPr lang="en-US" sz="1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골든셋 작성, 재정렬, 답변, 심판이 모두 같은 계열 LLM이다</a:t>
            </a:r>
            <a:endParaRPr lang="en-US" sz="1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54문항이라 유형별 수치는 질문 하나에 크게 흔들린다</a:t>
            </a:r>
            <a:endParaRPr lang="en-US" sz="1400" dirty="0"/>
          </a:p>
        </p:txBody>
      </p:sp>
      <p:sp>
        <p:nvSpPr>
          <p:cNvPr id="5" name="Next title"/>
          <p:cNvSpPr txBox="1"/>
          <p:nvPr/>
        </p:nvSpPr>
        <p:spPr>
          <a:xfrm>
            <a:off x="6400800" y="14630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다음에 할 일 (구현은 안 함)</a:t>
            </a:r>
            <a:endParaRPr lang="en-US" sz="1800" dirty="0"/>
          </a:p>
        </p:txBody>
      </p:sp>
      <p:sp>
        <p:nvSpPr>
          <p:cNvPr id="6" name="Next row 1"/>
          <p:cNvSpPr/>
          <p:nvPr/>
        </p:nvSpPr>
        <p:spPr>
          <a:xfrm>
            <a:off x="6400800" y="1965960"/>
            <a:ext cx="5148072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Next name 1"/>
          <p:cNvSpPr txBox="1"/>
          <p:nvPr/>
        </p:nvSpPr>
        <p:spPr>
          <a:xfrm>
            <a:off x="6629400" y="20574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조문번호 필터</a:t>
            </a:r>
            <a:endParaRPr lang="en-US" sz="1500" dirty="0"/>
          </a:p>
        </p:txBody>
      </p:sp>
      <p:sp>
        <p:nvSpPr>
          <p:cNvPr id="8" name="Next desc 1"/>
          <p:cNvSpPr txBox="1"/>
          <p:nvPr/>
        </p:nvSpPr>
        <p:spPr>
          <a:xfrm>
            <a:off x="6629400" y="239572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"제○조"를 뽑아 메타데이터로 검색 → 동점 해결</a:t>
            </a:r>
            <a:endParaRPr lang="en-US" sz="1200" dirty="0"/>
          </a:p>
        </p:txBody>
      </p:sp>
      <p:sp>
        <p:nvSpPr>
          <p:cNvPr id="9" name="Next row 2"/>
          <p:cNvSpPr/>
          <p:nvPr/>
        </p:nvSpPr>
        <p:spPr>
          <a:xfrm>
            <a:off x="6400800" y="2898648"/>
            <a:ext cx="5148072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Next name 2"/>
          <p:cNvSpPr txBox="1"/>
          <p:nvPr/>
        </p:nvSpPr>
        <p:spPr>
          <a:xfrm>
            <a:off x="6629400" y="299008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정의 청크 헤더</a:t>
            </a:r>
            <a:endParaRPr lang="en-US" sz="1500" dirty="0"/>
          </a:p>
        </p:txBody>
      </p:sp>
      <p:sp>
        <p:nvSpPr>
          <p:cNvPr id="11" name="Next desc 2"/>
          <p:cNvSpPr txBox="1"/>
          <p:nvPr/>
        </p:nvSpPr>
        <p:spPr>
          <a:xfrm>
            <a:off x="6629400" y="332841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용어를 경로에 넣어 q01이 후보에 들게</a:t>
            </a:r>
            <a:endParaRPr lang="en-US" sz="1200" dirty="0"/>
          </a:p>
        </p:txBody>
      </p:sp>
      <p:sp>
        <p:nvSpPr>
          <p:cNvPr id="12" name="Next row 3"/>
          <p:cNvSpPr/>
          <p:nvPr/>
        </p:nvSpPr>
        <p:spPr>
          <a:xfrm>
            <a:off x="6400800" y="3831336"/>
            <a:ext cx="5148072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Next name 3"/>
          <p:cNvSpPr txBox="1"/>
          <p:nvPr/>
        </p:nvSpPr>
        <p:spPr>
          <a:xfrm>
            <a:off x="6629400" y="392277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제43조 보강</a:t>
            </a:r>
            <a:endParaRPr lang="en-US" sz="1500" dirty="0"/>
          </a:p>
        </p:txBody>
      </p:sp>
      <p:sp>
        <p:nvSpPr>
          <p:cNvPr id="14" name="Next desc 3"/>
          <p:cNvSpPr txBox="1"/>
          <p:nvPr/>
        </p:nvSpPr>
        <p:spPr>
          <a:xfrm>
            <a:off x="6629400" y="426110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설명 헤더 추가 또는 벌칙 질문 시 함께 검색</a:t>
            </a:r>
            <a:endParaRPr lang="en-US" sz="1200" dirty="0"/>
          </a:p>
        </p:txBody>
      </p:sp>
      <p:sp>
        <p:nvSpPr>
          <p:cNvPr id="15" name="Next row 4"/>
          <p:cNvSpPr/>
          <p:nvPr/>
        </p:nvSpPr>
        <p:spPr>
          <a:xfrm>
            <a:off x="6400800" y="4764024"/>
            <a:ext cx="5148072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Next name 4"/>
          <p:cNvSpPr txBox="1"/>
          <p:nvPr/>
        </p:nvSpPr>
        <p:spPr>
          <a:xfrm>
            <a:off x="6629400" y="485546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거절 판정 개선</a:t>
            </a:r>
            <a:endParaRPr lang="en-US" sz="1500" dirty="0"/>
          </a:p>
        </p:txBody>
      </p:sp>
      <p:sp>
        <p:nvSpPr>
          <p:cNvPr id="17" name="Next desc 4"/>
          <p:cNvSpPr txBox="1"/>
          <p:nvPr/>
        </p:nvSpPr>
        <p:spPr>
          <a:xfrm>
            <a:off x="6629400" y="519379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문구 포함이 아니라 답변 전체가 거절인지로</a:t>
            </a:r>
            <a:endParaRPr lang="en-US" sz="1200" dirty="0"/>
          </a:p>
        </p:txBody>
      </p:sp>
      <p:sp>
        <p:nvSpPr>
          <p:cNvPr id="18" name="Ops note"/>
          <p:cNvSpPr txBox="1"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운영 메모: API 한도 분당 30회, 질문당 LLM 호출 4번 → 분당 약 7명이 한계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Basic Law RAG">
  <a:themeElements>
    <a:clrScheme name="AI Basic Law RAG">
      <a:dk1>
        <a:srgbClr val="17302F"/>
      </a:dk1>
      <a:lt1>
        <a:srgbClr val="FFFFFF"/>
      </a:lt1>
      <a:dk2>
        <a:srgbClr val="0F3D3E"/>
      </a:dk2>
      <a:lt2>
        <a:srgbClr val="EEF3F1"/>
      </a:lt2>
      <a:accent1>
        <a:srgbClr val="0F6B66"/>
      </a:accent1>
      <a:accent2>
        <a:srgbClr val="E3A02B"/>
      </a:accent2>
      <a:accent3>
        <a:srgbClr val="C8553D"/>
      </a:accent3>
      <a:accent4>
        <a:srgbClr val="6B8F8A"/>
      </a:accent4>
      <a:accent5>
        <a:srgbClr val="9DB8B4"/>
      </a:accent5>
      <a:accent6>
        <a:srgbClr val="CFDEDB"/>
      </a:accent6>
      <a:hlink>
        <a:srgbClr val="0F6B66"/>
      </a:hlink>
      <a:folHlink>
        <a:srgbClr val="6B8F8A"/>
      </a:folHlink>
    </a:clrScheme>
    <a:fontScheme name="AI Basic Law RAG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인공지능기본법 QA RAG 최종 보고</dc:title>
  <dc:subject>PptxGenJS Presentation</dc:subject>
  <dc:creator>PptxGenJS</dc:creator>
  <cp:lastModifiedBy>PptxGenJS</cp:lastModifiedBy>
  <cp:revision>1</cp:revision>
  <dcterms:created xsi:type="dcterms:W3CDTF">2026-10-08T06:56:09Z</dcterms:created>
  <dcterms:modified xsi:type="dcterms:W3CDTF">2026-10-08T06:56:09Z</dcterms:modified>
</cp:coreProperties>
</file>